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Default Extension="svg" ContentType="image/svg+xml"/>
  <Default Extension="xlsx" ContentType="application/vnd.openxmlformats-officedocument.spreadsheetml.sheet"/>
  <Override PartName="/ppt/theme/theme2.xml" ContentType="application/vnd.openxmlformats-officedocument.theme+xml"/>
  <Override PartName="/ppt/slideLayouts/slideLayout10.xml" ContentType="application/vnd.openxmlformats-officedocument.presentationml.slideLayout+xml"/>
  <Override PartName="/ppt/presentation.xml" ContentType="application/vnd.openxmlformats-officedocument.presentationml.presentation.main+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ppt/viewProps.xml" ContentType="application/vnd.openxmlformats-officedocument.presentationml.viewProps+xml"/>
  <Override PartName="/ppt/slideLayouts/slideLayout6.xml" ContentType="application/vnd.openxmlformats-officedocument.presentationml.slideLayout+xml"/>
  <Override PartName="/docProps/core.xml" ContentType="application/vnd.openxmlformats-package.core-properties+xml"/>
  <Override PartName="/ppt/theme/theme1.xml" ContentType="application/vnd.openxmlformats-officedocument.them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slides/slide11.xml" ContentType="application/vnd.openxmlformats-officedocument.presentationml.slide+xml"/>
  <Override PartName="/ppt/slides/slide8.xml" ContentType="application/vnd.openxmlformats-officedocument.presentationml.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s/slide10.xml" ContentType="application/vnd.openxmlformats-officedocument.presentationml.slide+xml"/>
  <Override PartName="/ppt/slides/slide9.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16"/>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378" y="90"/>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notesMaster" Target="notesMasters/notesMaster1.xml"/><Relationship Id="rId17" Type="http://schemas.openxmlformats.org/officeDocument/2006/relationships/presProps" Target="presProps.xml" /><Relationship Id="rId18" Type="http://schemas.openxmlformats.org/officeDocument/2006/relationships/tableStyles" Target="tableStyles.xml" /><Relationship Id="rId19"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460913650"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574486549"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en-US"/>
              <a:t>10/30/2013</a:t>
            </a:fld>
            <a:endParaRPr lang="en-US"/>
          </a:p>
        </p:txBody>
      </p:sp>
      <p:sp>
        <p:nvSpPr>
          <p:cNvPr id="1668092309"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884916108"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60105360"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426155642"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59103400" name="Slide Image Placeholder 1"/>
          <p:cNvSpPr>
            <a:spLocks noChangeAspect="1" noGrp="1" noRot="1"/>
          </p:cNvSpPr>
          <p:nvPr>
            <p:ph type="sldImg"/>
          </p:nvPr>
        </p:nvSpPr>
        <p:spPr bwMode="auto"/>
      </p:sp>
      <p:sp>
        <p:nvSpPr>
          <p:cNvPr id="726485692" name="Notes Placeholder 2"/>
          <p:cNvSpPr>
            <a:spLocks noGrp="1"/>
          </p:cNvSpPr>
          <p:nvPr>
            <p:ph type="body" idx="1"/>
          </p:nvPr>
        </p:nvSpPr>
        <p:spPr bwMode="auto"/>
        <p:txBody>
          <a:bodyPr/>
          <a:lstStyle/>
          <a:p>
            <a:pPr>
              <a:defRPr/>
            </a:pPr>
            <a:endParaRPr/>
          </a:p>
        </p:txBody>
      </p:sp>
      <p:sp>
        <p:nvSpPr>
          <p:cNvPr id="313974152" name="Slide Number Placeholder 3"/>
          <p:cNvSpPr>
            <a:spLocks noGrp="1"/>
          </p:cNvSpPr>
          <p:nvPr>
            <p:ph type="sldNum" sz="quarter" idx="10"/>
          </p:nvPr>
        </p:nvSpPr>
        <p:spPr bwMode="auto"/>
        <p:txBody>
          <a:bodyPr/>
          <a:lstStyle/>
          <a:p>
            <a:pPr>
              <a:defRPr/>
            </a:pPr>
            <a:fld id="{367020A3-56A9-08D8-7040-E1EDC305F62A}"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26255515" name="Slide Image Placeholder 1"/>
          <p:cNvSpPr>
            <a:spLocks noChangeAspect="1" noGrp="1" noRot="1"/>
          </p:cNvSpPr>
          <p:nvPr>
            <p:ph type="sldImg"/>
          </p:nvPr>
        </p:nvSpPr>
        <p:spPr bwMode="auto"/>
      </p:sp>
      <p:sp>
        <p:nvSpPr>
          <p:cNvPr id="1199782810" name="Notes Placeholder 2"/>
          <p:cNvSpPr>
            <a:spLocks noGrp="1"/>
          </p:cNvSpPr>
          <p:nvPr>
            <p:ph type="body" idx="1"/>
          </p:nvPr>
        </p:nvSpPr>
        <p:spPr bwMode="auto"/>
        <p:txBody>
          <a:bodyPr/>
          <a:lstStyle/>
          <a:p>
            <a:pPr>
              <a:defRPr/>
            </a:pPr>
            <a:endParaRPr/>
          </a:p>
        </p:txBody>
      </p:sp>
      <p:sp>
        <p:nvSpPr>
          <p:cNvPr id="474522124" name="Slide Number Placeholder 3"/>
          <p:cNvSpPr>
            <a:spLocks noGrp="1"/>
          </p:cNvSpPr>
          <p:nvPr>
            <p:ph type="sldNum" sz="quarter" idx="10"/>
          </p:nvPr>
        </p:nvSpPr>
        <p:spPr bwMode="auto"/>
        <p:txBody>
          <a:bodyPr/>
          <a:lstStyle/>
          <a:p>
            <a:pPr>
              <a:defRPr/>
            </a:pPr>
            <a:fld id="{959D7BB4-9F31-9EA2-A1EE-10BE4E8F41FC}"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14088039" name="Slide Image Placeholder 1"/>
          <p:cNvSpPr>
            <a:spLocks noChangeAspect="1" noGrp="1" noRot="1"/>
          </p:cNvSpPr>
          <p:nvPr>
            <p:ph type="sldImg"/>
          </p:nvPr>
        </p:nvSpPr>
        <p:spPr bwMode="auto"/>
      </p:sp>
      <p:sp>
        <p:nvSpPr>
          <p:cNvPr id="1790850579" name="Notes Placeholder 2"/>
          <p:cNvSpPr>
            <a:spLocks noGrp="1"/>
          </p:cNvSpPr>
          <p:nvPr>
            <p:ph type="body" idx="1"/>
          </p:nvPr>
        </p:nvSpPr>
        <p:spPr bwMode="auto"/>
        <p:txBody>
          <a:bodyPr/>
          <a:lstStyle/>
          <a:p>
            <a:pPr>
              <a:defRPr/>
            </a:pPr>
            <a:endParaRPr/>
          </a:p>
        </p:txBody>
      </p:sp>
      <p:sp>
        <p:nvSpPr>
          <p:cNvPr id="1950003131" name="Slide Number Placeholder 3"/>
          <p:cNvSpPr>
            <a:spLocks noGrp="1"/>
          </p:cNvSpPr>
          <p:nvPr>
            <p:ph type="sldNum" sz="quarter" idx="10"/>
          </p:nvPr>
        </p:nvSpPr>
        <p:spPr bwMode="auto"/>
        <p:txBody>
          <a:bodyPr/>
          <a:lstStyle/>
          <a:p>
            <a:pPr>
              <a:defRPr/>
            </a:pPr>
            <a:fld id="{1E5D7C6A-682C-74DE-51C1-ED8C0064D254}"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98862703" name="Slide Image Placeholder 1"/>
          <p:cNvSpPr>
            <a:spLocks noChangeAspect="1" noGrp="1" noRot="1"/>
          </p:cNvSpPr>
          <p:nvPr>
            <p:ph type="sldImg"/>
          </p:nvPr>
        </p:nvSpPr>
        <p:spPr bwMode="auto"/>
      </p:sp>
      <p:sp>
        <p:nvSpPr>
          <p:cNvPr id="199316326" name="Notes Placeholder 2"/>
          <p:cNvSpPr>
            <a:spLocks noGrp="1"/>
          </p:cNvSpPr>
          <p:nvPr>
            <p:ph type="body" idx="1"/>
          </p:nvPr>
        </p:nvSpPr>
        <p:spPr bwMode="auto"/>
        <p:txBody>
          <a:bodyPr/>
          <a:lstStyle/>
          <a:p>
            <a:pPr>
              <a:defRPr/>
            </a:pPr>
            <a:endParaRPr/>
          </a:p>
        </p:txBody>
      </p:sp>
      <p:sp>
        <p:nvSpPr>
          <p:cNvPr id="770164368" name="Slide Number Placeholder 3"/>
          <p:cNvSpPr>
            <a:spLocks noGrp="1"/>
          </p:cNvSpPr>
          <p:nvPr>
            <p:ph type="sldNum" sz="quarter" idx="10"/>
          </p:nvPr>
        </p:nvSpPr>
        <p:spPr bwMode="auto"/>
        <p:txBody>
          <a:bodyPr/>
          <a:lstStyle/>
          <a:p>
            <a:pPr>
              <a:defRPr/>
            </a:pPr>
            <a:fld id="{5B957F2B-6C42-04A1-4496-4D3F97D6E842}"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21026789" name="Slide Image Placeholder 1"/>
          <p:cNvSpPr>
            <a:spLocks noChangeAspect="1" noGrp="1" noRot="1"/>
          </p:cNvSpPr>
          <p:nvPr>
            <p:ph type="sldImg"/>
          </p:nvPr>
        </p:nvSpPr>
        <p:spPr bwMode="auto"/>
      </p:sp>
      <p:sp>
        <p:nvSpPr>
          <p:cNvPr id="24781358" name="Notes Placeholder 2"/>
          <p:cNvSpPr>
            <a:spLocks noGrp="1"/>
          </p:cNvSpPr>
          <p:nvPr>
            <p:ph type="body" idx="1"/>
          </p:nvPr>
        </p:nvSpPr>
        <p:spPr bwMode="auto"/>
        <p:txBody>
          <a:bodyPr/>
          <a:lstStyle/>
          <a:p>
            <a:pPr>
              <a:defRPr/>
            </a:pPr>
            <a:endParaRPr/>
          </a:p>
        </p:txBody>
      </p:sp>
      <p:sp>
        <p:nvSpPr>
          <p:cNvPr id="1855774696" name="Slide Number Placeholder 3"/>
          <p:cNvSpPr>
            <a:spLocks noGrp="1"/>
          </p:cNvSpPr>
          <p:nvPr>
            <p:ph type="sldNum" sz="quarter" idx="10"/>
          </p:nvPr>
        </p:nvSpPr>
        <p:spPr bwMode="auto"/>
        <p:txBody>
          <a:bodyPr/>
          <a:lstStyle/>
          <a:p>
            <a:pPr>
              <a:defRPr/>
            </a:pPr>
            <a:fld id="{61E77C98-8B11-57F5-23ED-9EEB0A2121B0}"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73018393" name="Slide Image Placeholder 1"/>
          <p:cNvSpPr>
            <a:spLocks noChangeAspect="1" noGrp="1" noRot="1"/>
          </p:cNvSpPr>
          <p:nvPr>
            <p:ph type="sldImg"/>
          </p:nvPr>
        </p:nvSpPr>
        <p:spPr bwMode="auto"/>
      </p:sp>
      <p:sp>
        <p:nvSpPr>
          <p:cNvPr id="1381733387" name="Notes Placeholder 2"/>
          <p:cNvSpPr>
            <a:spLocks noGrp="1"/>
          </p:cNvSpPr>
          <p:nvPr>
            <p:ph type="body" idx="1"/>
          </p:nvPr>
        </p:nvSpPr>
        <p:spPr bwMode="auto"/>
        <p:txBody>
          <a:bodyPr/>
          <a:lstStyle/>
          <a:p>
            <a:pPr>
              <a:defRPr/>
            </a:pPr>
            <a:endParaRPr/>
          </a:p>
        </p:txBody>
      </p:sp>
      <p:sp>
        <p:nvSpPr>
          <p:cNvPr id="1959737827" name="Slide Number Placeholder 3"/>
          <p:cNvSpPr>
            <a:spLocks noGrp="1"/>
          </p:cNvSpPr>
          <p:nvPr>
            <p:ph type="sldNum" sz="quarter" idx="10"/>
          </p:nvPr>
        </p:nvSpPr>
        <p:spPr bwMode="auto"/>
        <p:txBody>
          <a:bodyPr/>
          <a:lstStyle/>
          <a:p>
            <a:pPr>
              <a:defRPr/>
            </a:pPr>
            <a:fld id="{22E1F95B-FCE4-4952-BCE2-F584012D684C}"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18667034" name="Slide Image Placeholder 1"/>
          <p:cNvSpPr>
            <a:spLocks noChangeAspect="1" noGrp="1" noRot="1"/>
          </p:cNvSpPr>
          <p:nvPr>
            <p:ph type="sldImg"/>
          </p:nvPr>
        </p:nvSpPr>
        <p:spPr bwMode="auto"/>
      </p:sp>
      <p:sp>
        <p:nvSpPr>
          <p:cNvPr id="344330360" name="Notes Placeholder 2"/>
          <p:cNvSpPr>
            <a:spLocks noGrp="1"/>
          </p:cNvSpPr>
          <p:nvPr>
            <p:ph type="body" idx="1"/>
          </p:nvPr>
        </p:nvSpPr>
        <p:spPr bwMode="auto"/>
        <p:txBody>
          <a:bodyPr/>
          <a:lstStyle/>
          <a:p>
            <a:pPr>
              <a:defRPr/>
            </a:pPr>
            <a:endParaRPr/>
          </a:p>
        </p:txBody>
      </p:sp>
      <p:sp>
        <p:nvSpPr>
          <p:cNvPr id="1818567260" name="Slide Number Placeholder 3"/>
          <p:cNvSpPr>
            <a:spLocks noGrp="1"/>
          </p:cNvSpPr>
          <p:nvPr>
            <p:ph type="sldNum" sz="quarter" idx="10"/>
          </p:nvPr>
        </p:nvSpPr>
        <p:spPr bwMode="auto"/>
        <p:txBody>
          <a:bodyPr/>
          <a:lstStyle/>
          <a:p>
            <a:pPr>
              <a:defRPr/>
            </a:pPr>
            <a:fld id="{65C7F901-1849-B0C8-2537-6681353B72B8}"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12851868" name="Slide Image Placeholder 1"/>
          <p:cNvSpPr>
            <a:spLocks noChangeAspect="1" noGrp="1" noRot="1"/>
          </p:cNvSpPr>
          <p:nvPr>
            <p:ph type="sldImg"/>
          </p:nvPr>
        </p:nvSpPr>
        <p:spPr bwMode="auto"/>
      </p:sp>
      <p:sp>
        <p:nvSpPr>
          <p:cNvPr id="1337443103" name="Notes Placeholder 2"/>
          <p:cNvSpPr>
            <a:spLocks noGrp="1"/>
          </p:cNvSpPr>
          <p:nvPr>
            <p:ph type="body" idx="1"/>
          </p:nvPr>
        </p:nvSpPr>
        <p:spPr bwMode="auto"/>
        <p:txBody>
          <a:bodyPr/>
          <a:lstStyle/>
          <a:p>
            <a:pPr>
              <a:defRPr/>
            </a:pPr>
            <a:endParaRPr/>
          </a:p>
        </p:txBody>
      </p:sp>
      <p:sp>
        <p:nvSpPr>
          <p:cNvPr id="1440708575" name="Slide Number Placeholder 3"/>
          <p:cNvSpPr>
            <a:spLocks noGrp="1"/>
          </p:cNvSpPr>
          <p:nvPr>
            <p:ph type="sldNum" sz="quarter" idx="10"/>
          </p:nvPr>
        </p:nvSpPr>
        <p:spPr bwMode="auto"/>
        <p:txBody>
          <a:bodyPr/>
          <a:lstStyle/>
          <a:p>
            <a:pPr>
              <a:defRPr/>
            </a:pPr>
            <a:fld id="{C4BD89BF-FB0A-D20D-FD62-DB9845B59E98}"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04527707" name="Slide Image Placeholder 1"/>
          <p:cNvSpPr>
            <a:spLocks noChangeAspect="1" noGrp="1" noRot="1"/>
          </p:cNvSpPr>
          <p:nvPr>
            <p:ph type="sldImg"/>
          </p:nvPr>
        </p:nvSpPr>
        <p:spPr bwMode="auto"/>
      </p:sp>
      <p:sp>
        <p:nvSpPr>
          <p:cNvPr id="841567479" name="Notes Placeholder 2"/>
          <p:cNvSpPr>
            <a:spLocks noGrp="1"/>
          </p:cNvSpPr>
          <p:nvPr>
            <p:ph type="body" idx="1"/>
          </p:nvPr>
        </p:nvSpPr>
        <p:spPr bwMode="auto"/>
        <p:txBody>
          <a:bodyPr/>
          <a:lstStyle/>
          <a:p>
            <a:pPr>
              <a:defRPr/>
            </a:pPr>
            <a:endParaRPr/>
          </a:p>
        </p:txBody>
      </p:sp>
      <p:sp>
        <p:nvSpPr>
          <p:cNvPr id="604073664" name="Slide Number Placeholder 3"/>
          <p:cNvSpPr>
            <a:spLocks noGrp="1"/>
          </p:cNvSpPr>
          <p:nvPr>
            <p:ph type="sldNum" sz="quarter" idx="10"/>
          </p:nvPr>
        </p:nvSpPr>
        <p:spPr bwMode="auto"/>
        <p:txBody>
          <a:bodyPr/>
          <a:lstStyle/>
          <a:p>
            <a:pPr>
              <a:defRPr/>
            </a:pPr>
            <a:fld id="{840BDD09-1416-463C-126D-87CCD97C07A7}"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70737682" name="Slide Image Placeholder 1"/>
          <p:cNvSpPr>
            <a:spLocks noChangeAspect="1" noGrp="1" noRot="1"/>
          </p:cNvSpPr>
          <p:nvPr>
            <p:ph type="sldImg"/>
          </p:nvPr>
        </p:nvSpPr>
        <p:spPr bwMode="auto"/>
      </p:sp>
      <p:sp>
        <p:nvSpPr>
          <p:cNvPr id="981475928" name="Notes Placeholder 2"/>
          <p:cNvSpPr>
            <a:spLocks noGrp="1"/>
          </p:cNvSpPr>
          <p:nvPr>
            <p:ph type="body" idx="1"/>
          </p:nvPr>
        </p:nvSpPr>
        <p:spPr bwMode="auto"/>
        <p:txBody>
          <a:bodyPr/>
          <a:lstStyle/>
          <a:p>
            <a:pPr>
              <a:defRPr/>
            </a:pPr>
            <a:endParaRPr/>
          </a:p>
        </p:txBody>
      </p:sp>
      <p:sp>
        <p:nvSpPr>
          <p:cNvPr id="1785516119" name="Slide Number Placeholder 3"/>
          <p:cNvSpPr>
            <a:spLocks noGrp="1"/>
          </p:cNvSpPr>
          <p:nvPr>
            <p:ph type="sldNum" sz="quarter" idx="10"/>
          </p:nvPr>
        </p:nvSpPr>
        <p:spPr bwMode="auto"/>
        <p:txBody>
          <a:bodyPr/>
          <a:lstStyle/>
          <a:p>
            <a:pPr>
              <a:defRPr/>
            </a:pPr>
            <a:fld id="{91FEF5C6-2C98-7E8A-6726-EFC792A06D80}"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05003872" name="Slide Image Placeholder 1"/>
          <p:cNvSpPr>
            <a:spLocks noChangeAspect="1" noGrp="1" noRot="1"/>
          </p:cNvSpPr>
          <p:nvPr>
            <p:ph type="sldImg"/>
          </p:nvPr>
        </p:nvSpPr>
        <p:spPr bwMode="auto"/>
      </p:sp>
      <p:sp>
        <p:nvSpPr>
          <p:cNvPr id="255849830" name="Notes Placeholder 2"/>
          <p:cNvSpPr>
            <a:spLocks noGrp="1"/>
          </p:cNvSpPr>
          <p:nvPr>
            <p:ph type="body" idx="1"/>
          </p:nvPr>
        </p:nvSpPr>
        <p:spPr bwMode="auto"/>
        <p:txBody>
          <a:bodyPr/>
          <a:lstStyle/>
          <a:p>
            <a:pPr>
              <a:defRPr/>
            </a:pPr>
            <a:endParaRPr/>
          </a:p>
        </p:txBody>
      </p:sp>
      <p:sp>
        <p:nvSpPr>
          <p:cNvPr id="1004535730" name="Slide Number Placeholder 3"/>
          <p:cNvSpPr>
            <a:spLocks noGrp="1"/>
          </p:cNvSpPr>
          <p:nvPr>
            <p:ph type="sldNum" sz="quarter" idx="10"/>
          </p:nvPr>
        </p:nvSpPr>
        <p:spPr bwMode="auto"/>
        <p:txBody>
          <a:bodyPr/>
          <a:lstStyle/>
          <a:p>
            <a:pPr>
              <a:defRPr/>
            </a:pPr>
            <a:fld id="{20E1B9DD-9E20-5780-05F9-BDA19143F645}"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08302154" name="Slide Image Placeholder 1"/>
          <p:cNvSpPr>
            <a:spLocks noChangeAspect="1" noGrp="1" noRot="1"/>
          </p:cNvSpPr>
          <p:nvPr>
            <p:ph type="sldImg"/>
          </p:nvPr>
        </p:nvSpPr>
        <p:spPr bwMode="auto"/>
      </p:sp>
      <p:sp>
        <p:nvSpPr>
          <p:cNvPr id="1021960750" name="Notes Placeholder 2"/>
          <p:cNvSpPr>
            <a:spLocks noGrp="1"/>
          </p:cNvSpPr>
          <p:nvPr>
            <p:ph type="body" idx="1"/>
          </p:nvPr>
        </p:nvSpPr>
        <p:spPr bwMode="auto"/>
        <p:txBody>
          <a:bodyPr/>
          <a:lstStyle/>
          <a:p>
            <a:pPr>
              <a:defRPr/>
            </a:pPr>
            <a:endParaRPr/>
          </a:p>
        </p:txBody>
      </p:sp>
      <p:sp>
        <p:nvSpPr>
          <p:cNvPr id="1470719902" name="Slide Number Placeholder 3"/>
          <p:cNvSpPr>
            <a:spLocks noGrp="1"/>
          </p:cNvSpPr>
          <p:nvPr>
            <p:ph type="sldNum" sz="quarter" idx="10"/>
          </p:nvPr>
        </p:nvSpPr>
        <p:spPr bwMode="auto"/>
        <p:txBody>
          <a:bodyPr/>
          <a:lstStyle/>
          <a:p>
            <a:pPr>
              <a:defRPr/>
            </a:pPr>
            <a:fld id="{D606FDCB-C241-B8FA-EF9D-2C0E0DB7CB05}"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236566854"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endParaRPr lang="en-US"/>
          </a:p>
        </p:txBody>
      </p:sp>
      <p:sp>
        <p:nvSpPr>
          <p:cNvPr id="826028463"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lang="en-US"/>
          </a:p>
        </p:txBody>
      </p:sp>
      <p:sp>
        <p:nvSpPr>
          <p:cNvPr id="2077984261"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523559044" name="Footer Placeholder 4"/>
          <p:cNvSpPr>
            <a:spLocks noGrp="1"/>
          </p:cNvSpPr>
          <p:nvPr>
            <p:ph type="ftr" sz="quarter" idx="11"/>
          </p:nvPr>
        </p:nvSpPr>
        <p:spPr bwMode="auto"/>
        <p:txBody>
          <a:bodyPr/>
          <a:lstStyle/>
          <a:p>
            <a:pPr>
              <a:defRPr/>
            </a:pPr>
            <a:endParaRPr lang="en-US"/>
          </a:p>
        </p:txBody>
      </p:sp>
      <p:sp>
        <p:nvSpPr>
          <p:cNvPr id="1905505404"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251834880" name="Title 1"/>
          <p:cNvSpPr>
            <a:spLocks noGrp="1"/>
          </p:cNvSpPr>
          <p:nvPr>
            <p:ph type="title"/>
          </p:nvPr>
        </p:nvSpPr>
        <p:spPr bwMode="auto"/>
        <p:txBody>
          <a:bodyPr/>
          <a:lstStyle/>
          <a:p>
            <a:pPr>
              <a:defRPr/>
            </a:pPr>
            <a:r>
              <a:rPr lang="en-US"/>
              <a:t>Click to edit Master title style</a:t>
            </a:r>
            <a:endParaRPr lang="en-US"/>
          </a:p>
        </p:txBody>
      </p:sp>
      <p:sp>
        <p:nvSpPr>
          <p:cNvPr id="647718632"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239604605"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209789215" name="Footer Placeholder 4"/>
          <p:cNvSpPr>
            <a:spLocks noGrp="1"/>
          </p:cNvSpPr>
          <p:nvPr>
            <p:ph type="ftr" sz="quarter" idx="11"/>
          </p:nvPr>
        </p:nvSpPr>
        <p:spPr bwMode="auto"/>
        <p:txBody>
          <a:bodyPr/>
          <a:lstStyle/>
          <a:p>
            <a:pPr>
              <a:defRPr/>
            </a:pPr>
            <a:endParaRPr lang="en-US"/>
          </a:p>
        </p:txBody>
      </p:sp>
      <p:sp>
        <p:nvSpPr>
          <p:cNvPr id="523479240"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735578438"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endParaRPr lang="en-US"/>
          </a:p>
        </p:txBody>
      </p:sp>
      <p:sp>
        <p:nvSpPr>
          <p:cNvPr id="228006219"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961022459"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427740695" name="Footer Placeholder 4"/>
          <p:cNvSpPr>
            <a:spLocks noGrp="1"/>
          </p:cNvSpPr>
          <p:nvPr>
            <p:ph type="ftr" sz="quarter" idx="11"/>
          </p:nvPr>
        </p:nvSpPr>
        <p:spPr bwMode="auto"/>
        <p:txBody>
          <a:bodyPr/>
          <a:lstStyle/>
          <a:p>
            <a:pPr>
              <a:defRPr/>
            </a:pPr>
            <a:endParaRPr lang="en-US"/>
          </a:p>
        </p:txBody>
      </p:sp>
      <p:sp>
        <p:nvSpPr>
          <p:cNvPr id="918136498"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40021913" name="Title 1"/>
          <p:cNvSpPr>
            <a:spLocks noGrp="1"/>
          </p:cNvSpPr>
          <p:nvPr>
            <p:ph type="title"/>
          </p:nvPr>
        </p:nvSpPr>
        <p:spPr bwMode="auto"/>
        <p:txBody>
          <a:bodyPr/>
          <a:lstStyle/>
          <a:p>
            <a:pPr>
              <a:defRPr/>
            </a:pPr>
            <a:r>
              <a:rPr lang="en-US"/>
              <a:t>Click to edit Master title style</a:t>
            </a:r>
            <a:endParaRPr lang="en-US"/>
          </a:p>
        </p:txBody>
      </p:sp>
      <p:sp>
        <p:nvSpPr>
          <p:cNvPr id="1178832383"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764432608"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645925551"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884122448" name="Footer Placeholder 5"/>
          <p:cNvSpPr>
            <a:spLocks noGrp="1"/>
          </p:cNvSpPr>
          <p:nvPr>
            <p:ph type="ftr" sz="quarter" idx="11"/>
          </p:nvPr>
        </p:nvSpPr>
        <p:spPr bwMode="auto"/>
        <p:txBody>
          <a:bodyPr/>
          <a:lstStyle/>
          <a:p>
            <a:pPr>
              <a:defRPr/>
            </a:pPr>
            <a:endParaRPr lang="en-US"/>
          </a:p>
        </p:txBody>
      </p:sp>
      <p:sp>
        <p:nvSpPr>
          <p:cNvPr id="184380192"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848804368" name="Title 1"/>
          <p:cNvSpPr>
            <a:spLocks noGrp="1"/>
          </p:cNvSpPr>
          <p:nvPr>
            <p:ph type="title"/>
          </p:nvPr>
        </p:nvSpPr>
        <p:spPr bwMode="auto">
          <a:xfrm>
            <a:off x="839788" y="365125"/>
            <a:ext cx="10515600" cy="1325563"/>
          </a:xfrm>
        </p:spPr>
        <p:txBody>
          <a:bodyPr/>
          <a:lstStyle/>
          <a:p>
            <a:pPr>
              <a:defRPr/>
            </a:pPr>
            <a:r>
              <a:rPr lang="en-US"/>
              <a:t>Click to edit Master title style</a:t>
            </a:r>
            <a:endParaRPr lang="en-US"/>
          </a:p>
        </p:txBody>
      </p:sp>
      <p:sp>
        <p:nvSpPr>
          <p:cNvPr id="1651661811"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687813560"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94059985"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662614254"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824553806" name="Date Placeholder 6"/>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39127106" name="Footer Placeholder 7"/>
          <p:cNvSpPr>
            <a:spLocks noGrp="1"/>
          </p:cNvSpPr>
          <p:nvPr>
            <p:ph type="ftr" sz="quarter" idx="11"/>
          </p:nvPr>
        </p:nvSpPr>
        <p:spPr bwMode="auto"/>
        <p:txBody>
          <a:bodyPr/>
          <a:lstStyle/>
          <a:p>
            <a:pPr>
              <a:defRPr/>
            </a:pPr>
            <a:endParaRPr lang="en-US"/>
          </a:p>
        </p:txBody>
      </p:sp>
      <p:sp>
        <p:nvSpPr>
          <p:cNvPr id="98226637" name="Slide Number Placeholder 8"/>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937721959" name="Title 1"/>
          <p:cNvSpPr>
            <a:spLocks noGrp="1"/>
          </p:cNvSpPr>
          <p:nvPr>
            <p:ph type="title"/>
          </p:nvPr>
        </p:nvSpPr>
        <p:spPr bwMode="auto"/>
        <p:txBody>
          <a:bodyPr/>
          <a:lstStyle/>
          <a:p>
            <a:pPr>
              <a:defRPr/>
            </a:pPr>
            <a:r>
              <a:rPr lang="en-US"/>
              <a:t>Click to edit Master title style</a:t>
            </a:r>
            <a:endParaRPr lang="en-US"/>
          </a:p>
        </p:txBody>
      </p:sp>
      <p:sp>
        <p:nvSpPr>
          <p:cNvPr id="454271675" name="Date Placeholder 2"/>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580888466" name="Footer Placeholder 3"/>
          <p:cNvSpPr>
            <a:spLocks noGrp="1"/>
          </p:cNvSpPr>
          <p:nvPr>
            <p:ph type="ftr" sz="quarter" idx="11"/>
          </p:nvPr>
        </p:nvSpPr>
        <p:spPr bwMode="auto"/>
        <p:txBody>
          <a:bodyPr/>
          <a:lstStyle/>
          <a:p>
            <a:pPr>
              <a:defRPr/>
            </a:pPr>
            <a:endParaRPr lang="en-US"/>
          </a:p>
        </p:txBody>
      </p:sp>
      <p:sp>
        <p:nvSpPr>
          <p:cNvPr id="993222605" name="Slide Number Placeholder 4"/>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561207442" name="Date Placeholder 1"/>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157724379" name="Footer Placeholder 2"/>
          <p:cNvSpPr>
            <a:spLocks noGrp="1"/>
          </p:cNvSpPr>
          <p:nvPr>
            <p:ph type="ftr" sz="quarter" idx="11"/>
          </p:nvPr>
        </p:nvSpPr>
        <p:spPr bwMode="auto"/>
        <p:txBody>
          <a:bodyPr/>
          <a:lstStyle/>
          <a:p>
            <a:pPr>
              <a:defRPr/>
            </a:pPr>
            <a:endParaRPr lang="en-US"/>
          </a:p>
        </p:txBody>
      </p:sp>
      <p:sp>
        <p:nvSpPr>
          <p:cNvPr id="1262406989" name="Slide Number Placeholder 3"/>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355012226"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994539145"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81458098"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1494977699"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418115025" name="Footer Placeholder 5"/>
          <p:cNvSpPr>
            <a:spLocks noGrp="1"/>
          </p:cNvSpPr>
          <p:nvPr>
            <p:ph type="ftr" sz="quarter" idx="11"/>
          </p:nvPr>
        </p:nvSpPr>
        <p:spPr bwMode="auto"/>
        <p:txBody>
          <a:bodyPr/>
          <a:lstStyle/>
          <a:p>
            <a:pPr>
              <a:defRPr/>
            </a:pPr>
            <a:endParaRPr lang="en-US"/>
          </a:p>
        </p:txBody>
      </p:sp>
      <p:sp>
        <p:nvSpPr>
          <p:cNvPr id="192622675"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08558607"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1427095994" name="Picture Placeholder 2"/>
          <p:cNvSpPr>
            <a:spLocks noChangeAspect="1" noGrp="1"/>
          </p:cNvSpPr>
          <p:nvPr>
            <p:ph type="pic" idx="1"/>
          </p:nvPr>
        </p:nvSpPr>
        <p:spPr bwMode="auto">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endParaRPr lang="en-US"/>
          </a:p>
        </p:txBody>
      </p:sp>
      <p:sp>
        <p:nvSpPr>
          <p:cNvPr id="1811394112"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1685010525"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2094842352" name="Footer Placeholder 5"/>
          <p:cNvSpPr>
            <a:spLocks noGrp="1"/>
          </p:cNvSpPr>
          <p:nvPr>
            <p:ph type="ftr" sz="quarter" idx="11"/>
          </p:nvPr>
        </p:nvSpPr>
        <p:spPr bwMode="auto"/>
        <p:txBody>
          <a:bodyPr/>
          <a:lstStyle/>
          <a:p>
            <a:pPr>
              <a:defRPr/>
            </a:pPr>
            <a:endParaRPr lang="en-US"/>
          </a:p>
        </p:txBody>
      </p:sp>
      <p:sp>
        <p:nvSpPr>
          <p:cNvPr id="1276869729"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695602843" name="Title 1"/>
          <p:cNvSpPr>
            <a:spLocks noGrp="1"/>
          </p:cNvSpPr>
          <p:nvPr>
            <p:ph type="title"/>
          </p:nvPr>
        </p:nvSpPr>
        <p:spPr bwMode="auto"/>
        <p:txBody>
          <a:bodyPr/>
          <a:lstStyle/>
          <a:p>
            <a:pPr>
              <a:defRPr/>
            </a:pPr>
            <a:r>
              <a:rPr lang="en-US"/>
              <a:t>Click to edit Master title style</a:t>
            </a:r>
            <a:endParaRPr lang="en-US"/>
          </a:p>
        </p:txBody>
      </p:sp>
      <p:sp>
        <p:nvSpPr>
          <p:cNvPr id="930339899"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869823710"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792892727" name="Footer Placeholder 4"/>
          <p:cNvSpPr>
            <a:spLocks noGrp="1"/>
          </p:cNvSpPr>
          <p:nvPr>
            <p:ph type="ftr" sz="quarter" idx="11"/>
          </p:nvPr>
        </p:nvSpPr>
        <p:spPr bwMode="auto"/>
        <p:txBody>
          <a:bodyPr/>
          <a:lstStyle/>
          <a:p>
            <a:pPr>
              <a:defRPr/>
            </a:pPr>
            <a:endParaRPr lang="en-US"/>
          </a:p>
        </p:txBody>
      </p:sp>
      <p:sp>
        <p:nvSpPr>
          <p:cNvPr id="102028545"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609650566"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endParaRPr lang="en-US"/>
          </a:p>
        </p:txBody>
      </p:sp>
      <p:sp>
        <p:nvSpPr>
          <p:cNvPr id="934014566"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2670609"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379135433" name="Footer Placeholder 4"/>
          <p:cNvSpPr>
            <a:spLocks noGrp="1"/>
          </p:cNvSpPr>
          <p:nvPr>
            <p:ph type="ftr" sz="quarter" idx="11"/>
          </p:nvPr>
        </p:nvSpPr>
        <p:spPr bwMode="auto"/>
        <p:txBody>
          <a:bodyPr/>
          <a:lstStyle/>
          <a:p>
            <a:pPr>
              <a:defRPr/>
            </a:pPr>
            <a:endParaRPr lang="en-US"/>
          </a:p>
        </p:txBody>
      </p:sp>
      <p:sp>
        <p:nvSpPr>
          <p:cNvPr id="1218815009"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606144950"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1604300252"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107339328"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lang="en-US"/>
              <a:t>30.10.2013</a:t>
            </a:fld>
            <a:endParaRPr lang="en-US"/>
          </a:p>
        </p:txBody>
      </p:sp>
      <p:sp>
        <p:nvSpPr>
          <p:cNvPr id="842891392"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2030353655"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media1.svg"/><Relationship Id="rId5" Type="http://schemas.openxmlformats.org/officeDocument/2006/relationships/image" Target="../media/image7.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0.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3.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11.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media2.svg"/><Relationship Id="rId5" Type="http://schemas.openxmlformats.org/officeDocument/2006/relationships/image" Target="../media/image16.png"/><Relationship Id="rId6" Type="http://schemas.openxmlformats.org/officeDocument/2006/relationships/package" Target="../embeddings/media3.svg"/><Relationship Id="rId7" Type="http://schemas.openxmlformats.org/officeDocument/2006/relationships/image" Target="../media/image16.sv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media4.svg"/><Relationship Id="rId5" Type="http://schemas.openxmlformats.org/officeDocument/2006/relationships/image" Target="../media/image18.png"/><Relationship Id="rId6" Type="http://schemas.openxmlformats.org/officeDocument/2006/relationships/package" Target="../embeddings/media5.svg"/><Relationship Id="rId7" Type="http://schemas.openxmlformats.org/officeDocument/2006/relationships/image" Target="../media/image18.sv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media6.sv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32349838" name="Text Placeholder 1"/>
          <p:cNvSpPr>
            <a:spLocks noGrp="1"/>
          </p:cNvSpPr>
          <p:nvPr>
            <p:ph type="body" sz="quarter" idx="10"/>
          </p:nvPr>
        </p:nvSpPr>
        <p:spPr bwMode="auto">
          <a:xfrm>
            <a:off x="591388" y="164635"/>
            <a:ext cx="11137237" cy="2304254"/>
          </a:xfrm>
        </p:spPr>
        <p:txBody>
          <a:bodyPr>
            <a:normAutofit/>
          </a:bodyPr>
          <a:lstStyle/>
          <a:p>
            <a:pPr>
              <a:defRPr/>
            </a:pPr>
            <a:r>
              <a:rPr lang="en-US" sz="1400">
                <a:solidFill>
                  <a:schemeClr val="tx1"/>
                </a:solidFill>
              </a:rPr>
              <a:t>DEFLECTED SHAPES OF VARIOUS EXPANSION STRESSES RELIEVING OPTIONS:</a:t>
            </a:r>
            <a:endParaRPr/>
          </a:p>
        </p:txBody>
      </p:sp>
      <p:sp>
        <p:nvSpPr>
          <p:cNvPr id="1884353124" name="TextBox 2"/>
          <p:cNvSpPr txBox="1"/>
          <p:nvPr/>
        </p:nvSpPr>
        <p:spPr bwMode="auto">
          <a:xfrm>
            <a:off x="463374" y="680691"/>
            <a:ext cx="11265253" cy="1272142"/>
          </a:xfrm>
          <a:prstGeom prst="rect">
            <a:avLst/>
          </a:prstGeom>
          <a:noFill/>
        </p:spPr>
        <p:txBody>
          <a:bodyPr wrap="square">
            <a:spAutoFit/>
          </a:bodyPr>
          <a:lstStyle/>
          <a:p>
            <a:pPr algn="just">
              <a:defRPr/>
            </a:pPr>
            <a:r>
              <a:rPr lang="en-US" sz="1400" b="0" i="0">
                <a:solidFill>
                  <a:srgbClr val="333333"/>
                </a:solidFill>
              </a:rPr>
              <a:t>Below are few piping configurations which we discussed earlier to add flexibility. Care must be taken to allow the pipe to move or force it to move as desired. In below the deflected shapes (the way the thermal expansion </a:t>
            </a:r>
            <a:r>
              <a:rPr lang="en-US" sz="1400">
                <a:solidFill>
                  <a:srgbClr val="333333"/>
                </a:solidFill>
              </a:rPr>
              <a:t>is absorbed) </a:t>
            </a:r>
            <a:r>
              <a:rPr lang="en-US" sz="1400" b="0" i="0">
                <a:solidFill>
                  <a:srgbClr val="333333"/>
                </a:solidFill>
              </a:rPr>
              <a:t> are shown in red line.</a:t>
            </a:r>
            <a:endParaRPr lang="en-US" sz="1400"/>
          </a:p>
        </p:txBody>
      </p:sp>
      <p:pic>
        <p:nvPicPr>
          <p:cNvPr id="2136096848" name="Picture 8"/>
          <p:cNvPicPr>
            <a:picLocks noChangeAspect="1"/>
          </p:cNvPicPr>
          <p:nvPr/>
        </p:nvPicPr>
        <p:blipFill rotWithShape="1">
          <a:blip r:embed="rId3"/>
          <a:stretch/>
        </p:blipFill>
        <p:spPr bwMode="auto">
          <a:xfrm>
            <a:off x="591386" y="1952834"/>
            <a:ext cx="3332293" cy="2148239"/>
          </a:xfrm>
          <a:prstGeom prst="rect">
            <a:avLst/>
          </a:prstGeom>
        </p:spPr>
      </p:pic>
      <p:pic>
        <p:nvPicPr>
          <p:cNvPr id="582535887" name="Picture 10"/>
          <p:cNvPicPr>
            <a:picLocks noChangeAspect="1"/>
          </p:cNvPicPr>
          <p:nvPr/>
        </p:nvPicPr>
        <p:blipFill rotWithShape="1">
          <a:blip r:embed="rId4"/>
          <a:stretch/>
        </p:blipFill>
        <p:spPr bwMode="auto">
          <a:xfrm>
            <a:off x="7299016" y="1999733"/>
            <a:ext cx="4374984" cy="2101341"/>
          </a:xfrm>
          <a:prstGeom prst="rect">
            <a:avLst/>
          </a:prstGeom>
        </p:spPr>
      </p:pic>
      <p:pic>
        <p:nvPicPr>
          <p:cNvPr id="171790287" name="Picture 12"/>
          <p:cNvPicPr>
            <a:picLocks noChangeAspect="1"/>
          </p:cNvPicPr>
          <p:nvPr/>
        </p:nvPicPr>
        <p:blipFill rotWithShape="1">
          <a:blip r:embed="rId5"/>
          <a:stretch/>
        </p:blipFill>
        <p:spPr bwMode="auto">
          <a:xfrm>
            <a:off x="3923679" y="1952834"/>
            <a:ext cx="2919102" cy="2148239"/>
          </a:xfrm>
          <a:prstGeom prst="rect">
            <a:avLst/>
          </a:prstGeom>
        </p:spPr>
      </p:pic>
      <p:pic>
        <p:nvPicPr>
          <p:cNvPr id="1149097001" name="Picture 16"/>
          <p:cNvPicPr>
            <a:picLocks noChangeAspect="1"/>
          </p:cNvPicPr>
          <p:nvPr/>
        </p:nvPicPr>
        <p:blipFill rotWithShape="1">
          <a:blip r:embed="rId6"/>
          <a:stretch/>
        </p:blipFill>
        <p:spPr bwMode="auto">
          <a:xfrm>
            <a:off x="591386" y="4389107"/>
            <a:ext cx="7941212" cy="210134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7964576" name="Text Placeholder 4"/>
          <p:cNvSpPr>
            <a:spLocks noGrp="1"/>
          </p:cNvSpPr>
          <p:nvPr>
            <p:ph type="body" sz="quarter" idx="10"/>
          </p:nvPr>
        </p:nvSpPr>
        <p:spPr bwMode="auto">
          <a:xfrm>
            <a:off x="664458" y="383170"/>
            <a:ext cx="11127196" cy="401917"/>
          </a:xfrm>
        </p:spPr>
        <p:txBody>
          <a:bodyPr>
            <a:normAutofit fontScale="85000" lnSpcReduction="10000"/>
          </a:bodyPr>
          <a:lstStyle/>
          <a:p>
            <a:pPr>
              <a:defRPr/>
            </a:pPr>
            <a:r>
              <a:rPr lang="en-US" sz="2400">
                <a:solidFill>
                  <a:schemeClr val="bg1"/>
                </a:solidFill>
              </a:rPr>
              <a:t>Methods of calculating  piping flexibility</a:t>
            </a:r>
            <a:endParaRPr lang="en-GB"/>
          </a:p>
        </p:txBody>
      </p:sp>
      <p:sp>
        <p:nvSpPr>
          <p:cNvPr id="874932853" name="TextBox 7"/>
          <p:cNvSpPr txBox="1"/>
          <p:nvPr/>
        </p:nvSpPr>
        <p:spPr bwMode="auto">
          <a:xfrm>
            <a:off x="532401" y="785088"/>
            <a:ext cx="11127196" cy="5293757"/>
          </a:xfrm>
          <a:prstGeom prst="rect">
            <a:avLst/>
          </a:prstGeom>
          <a:noFill/>
        </p:spPr>
        <p:txBody>
          <a:bodyPr wrap="square">
            <a:spAutoFit/>
          </a:bodyPr>
          <a:lstStyle/>
          <a:p>
            <a:pPr algn="just">
              <a:defRPr/>
            </a:pPr>
            <a:r>
              <a:rPr lang="en-US" sz="1400"/>
              <a:t>As discussed in earlier slides, providing adequate flexibility for absorbing the thermal expansion of the pipe is very much important. However, due to lack of quick method of checking, piping are often laid-out to be either too stiff or too flexible. In either case, valuable time and material are wasted. Here we discuss about some of the quick methods for checking piping flexibility. These methods include </a:t>
            </a:r>
            <a:endParaRPr/>
          </a:p>
          <a:p>
            <a:pPr>
              <a:defRPr/>
            </a:pPr>
            <a:endParaRPr lang="en-US" sz="1400"/>
          </a:p>
          <a:p>
            <a:pPr marL="285750" indent="-285750">
              <a:buFont typeface="Wingdings"/>
              <a:buChar char="Ø"/>
              <a:defRPr/>
            </a:pPr>
            <a:r>
              <a:rPr lang="en-US" sz="1400"/>
              <a:t>Visual check/ Accepting designs based on experience</a:t>
            </a:r>
            <a:endParaRPr/>
          </a:p>
          <a:p>
            <a:pPr>
              <a:defRPr/>
            </a:pPr>
            <a:endParaRPr lang="en-US" sz="1400"/>
          </a:p>
          <a:p>
            <a:pPr marL="285750" indent="-285750">
              <a:buFont typeface="Wingdings"/>
              <a:buChar char="Ø"/>
              <a:defRPr/>
            </a:pPr>
            <a:r>
              <a:rPr lang="en-US" sz="1400"/>
              <a:t>Manual methods( Available in QMS spread sheet </a:t>
            </a:r>
            <a:r>
              <a:rPr lang="en-US" sz="1400" b="1"/>
              <a:t>PEC-EN-VSS-L-15634</a:t>
            </a:r>
            <a:r>
              <a:rPr lang="en-US" sz="1400"/>
              <a:t>)</a:t>
            </a:r>
            <a:endParaRPr/>
          </a:p>
          <a:p>
            <a:pPr marL="742950" lvl="1" indent="-285750">
              <a:buFont typeface="Wingdings"/>
              <a:buChar char="§"/>
              <a:defRPr/>
            </a:pPr>
            <a:r>
              <a:rPr lang="en-US" sz="1400"/>
              <a:t>Using basic engineering formulae (Guided Cantilever method)</a:t>
            </a:r>
            <a:endParaRPr/>
          </a:p>
          <a:p>
            <a:pPr marL="742950" lvl="1" indent="-285750">
              <a:buFont typeface="Wingdings"/>
              <a:buChar char="§"/>
              <a:defRPr/>
            </a:pPr>
            <a:r>
              <a:rPr lang="en-US" sz="1400"/>
              <a:t>Using Charts and graphs (Nomographs)</a:t>
            </a:r>
            <a:endParaRPr/>
          </a:p>
          <a:p>
            <a:pPr lvl="1">
              <a:defRPr/>
            </a:pPr>
            <a:endParaRPr lang="en-US" sz="1400"/>
          </a:p>
          <a:p>
            <a:pPr marL="285750" indent="-285750">
              <a:buFont typeface="Wingdings"/>
              <a:buChar char="Ø"/>
              <a:defRPr/>
            </a:pPr>
            <a:r>
              <a:rPr lang="en-US" sz="1400"/>
              <a:t>By use of tools like Pipe data pro (Pipe data pro on back end uses guided cantilever method)</a:t>
            </a:r>
            <a:endParaRPr/>
          </a:p>
          <a:p>
            <a:pPr marL="285750" indent="-285750">
              <a:buFont typeface="Wingdings"/>
              <a:buChar char="Ø"/>
              <a:defRPr/>
            </a:pPr>
            <a:endParaRPr lang="en-US" sz="1400"/>
          </a:p>
          <a:p>
            <a:pPr marL="285750" indent="-285750">
              <a:buFont typeface="Wingdings"/>
              <a:buChar char="Ø"/>
              <a:defRPr/>
            </a:pPr>
            <a:r>
              <a:rPr lang="en-US" sz="1400"/>
              <a:t>Computer based checking ( By using beam element software like Caesar II , Auto-pipe, etc.).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07234222" name="Text Placeholder 4"/>
          <p:cNvSpPr>
            <a:spLocks noGrp="1"/>
          </p:cNvSpPr>
          <p:nvPr>
            <p:ph type="body" sz="quarter" idx="10"/>
          </p:nvPr>
        </p:nvSpPr>
        <p:spPr bwMode="auto">
          <a:xfrm>
            <a:off x="664458" y="214373"/>
            <a:ext cx="10808136" cy="739258"/>
          </a:xfrm>
        </p:spPr>
        <p:txBody>
          <a:bodyPr>
            <a:noAutofit/>
          </a:bodyPr>
          <a:lstStyle/>
          <a:p>
            <a:pPr marL="342900" indent="-342900">
              <a:buFont typeface="Wingdings"/>
              <a:buChar char="Ø"/>
              <a:defRPr/>
            </a:pPr>
            <a:r>
              <a:rPr lang="en-US" sz="2000"/>
              <a:t>Visual check/ Accepting designs based on experience</a:t>
            </a:r>
            <a:endParaRPr/>
          </a:p>
        </p:txBody>
      </p:sp>
      <p:sp>
        <p:nvSpPr>
          <p:cNvPr id="434243580" name="TextBox 6"/>
          <p:cNvSpPr txBox="1"/>
          <p:nvPr/>
        </p:nvSpPr>
        <p:spPr bwMode="auto">
          <a:xfrm>
            <a:off x="527381" y="1124743"/>
            <a:ext cx="11137237" cy="2421175"/>
          </a:xfrm>
          <a:prstGeom prst="rect">
            <a:avLst/>
          </a:prstGeom>
          <a:noFill/>
        </p:spPr>
        <p:txBody>
          <a:bodyPr wrap="square">
            <a:spAutoFit/>
          </a:bodyPr>
          <a:lstStyle/>
          <a:p>
            <a:pPr algn="just">
              <a:defRPr/>
            </a:pPr>
            <a:r>
              <a:rPr lang="en-US" sz="1400">
                <a:latin typeface="PT Serif"/>
              </a:rPr>
              <a:t>T</a:t>
            </a:r>
            <a:r>
              <a:rPr lang="en-US" sz="1400" b="0" i="0">
                <a:latin typeface="PT Serif"/>
              </a:rPr>
              <a:t>he visual check is the first important examination on anything we do. If the design looks strange, then most likely something is wrong with it . By now we at least know that we can not  run a piping straight from one point to another. This also applies to the situation when there are two or more-line stops installed at a straight header as shown in Figure below. </a:t>
            </a:r>
            <a:r>
              <a:rPr lang="en-US" sz="1400">
                <a:latin typeface="PT Serif"/>
              </a:rPr>
              <a:t>T</a:t>
            </a:r>
            <a:r>
              <a:rPr lang="en-US" sz="1400" b="0" i="0">
                <a:latin typeface="PT Serif"/>
              </a:rPr>
              <a:t>he line stop or axial stop acts directly against the expansion of the pipe. When two axial stops installed on the same straight leg , the thermal expansion of the pipe located between the stops has no place to relie</a:t>
            </a:r>
            <a:r>
              <a:rPr lang="en-US" sz="1400">
                <a:latin typeface="PT Serif"/>
              </a:rPr>
              <a:t>ve.</a:t>
            </a:r>
            <a:endParaRPr lang="en-US" sz="1400" b="0" i="0">
              <a:latin typeface="PT Serif"/>
            </a:endParaRPr>
          </a:p>
        </p:txBody>
      </p:sp>
      <p:pic>
        <p:nvPicPr>
          <p:cNvPr id="1684796847" name="Picture 10"/>
          <p:cNvPicPr>
            <a:picLocks noChangeAspect="1"/>
          </p:cNvPicPr>
          <p:nvPr/>
        </p:nvPicPr>
        <p:blipFill rotWithShape="1">
          <a:blip r:embed="rId3"/>
          <a:stretch/>
        </p:blipFill>
        <p:spPr bwMode="auto">
          <a:xfrm>
            <a:off x="2255573" y="3717031"/>
            <a:ext cx="6425365" cy="211223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06511864" name="TextBox 4"/>
          <p:cNvSpPr txBox="1"/>
          <p:nvPr/>
        </p:nvSpPr>
        <p:spPr bwMode="auto">
          <a:xfrm>
            <a:off x="484625" y="101251"/>
            <a:ext cx="11009223" cy="2133917"/>
          </a:xfrm>
          <a:prstGeom prst="rect">
            <a:avLst/>
          </a:prstGeom>
          <a:noFill/>
        </p:spPr>
        <p:txBody>
          <a:bodyPr wrap="square">
            <a:spAutoFit/>
          </a:bodyPr>
          <a:lstStyle/>
          <a:p>
            <a:pPr algn="just">
              <a:defRPr/>
            </a:pPr>
            <a:r>
              <a:rPr lang="en-US" sz="1400">
                <a:latin typeface="PT Serif"/>
              </a:rPr>
              <a:t>The visual check of the piping flexibility is to look for the pipe legs located in the direction perpendicular to the line connecting the two anchor or other restraint points. The length of the leg is the direct measure of the flexibility. Therefore, the key is to locate the availability of the perpendicular leg and to determine if the length of the leg is sufficient. The required leg length can be estimated by the rule of thumb equation below derived by the guided cantilever approach , for steel pipes.</a:t>
            </a:r>
            <a:endParaRPr/>
          </a:p>
        </p:txBody>
      </p:sp>
      <p:sp>
        <p:nvSpPr>
          <p:cNvPr id="950362900" name="TextBox 8"/>
          <p:cNvSpPr txBox="1"/>
          <p:nvPr/>
        </p:nvSpPr>
        <p:spPr bwMode="auto">
          <a:xfrm>
            <a:off x="348305" y="3575397"/>
            <a:ext cx="11495386" cy="1559401"/>
          </a:xfrm>
          <a:prstGeom prst="rect">
            <a:avLst/>
          </a:prstGeom>
          <a:noFill/>
        </p:spPr>
        <p:txBody>
          <a:bodyPr wrap="square">
            <a:spAutoFit/>
          </a:bodyPr>
          <a:lstStyle/>
          <a:p>
            <a:pPr algn="just">
              <a:defRPr/>
            </a:pPr>
            <a:r>
              <a:rPr lang="en-US" sz="1400">
                <a:latin typeface="PT Serif"/>
              </a:rPr>
              <a:t>To use the above equation, the expansion rate of pipe to be known. Below table gives expansion rates of carbon and stainless-steel pipes at several operating temperatures. For intermediate temperatures, the values shall be interpolated. It should be noted that an expansion loop is considered as two legs with each leg absorbs one half of the total expansion.</a:t>
            </a:r>
            <a:endParaRPr/>
          </a:p>
        </p:txBody>
      </p:sp>
      <p:pic>
        <p:nvPicPr>
          <p:cNvPr id="1086481079" name="Picture 2"/>
          <p:cNvPicPr>
            <a:picLocks noChangeAspect="1"/>
          </p:cNvPicPr>
          <p:nvPr/>
        </p:nvPicPr>
        <p:blipFill rotWithShape="1">
          <a:blip r:embed="rId3">
            <a:extLst>
              <a:ext uri="{96DAC541-7B7A-43D3-8B79-37D633B846F1}">
                <asvg:svgBlip xmlns:asvg="http://schemas.microsoft.com/office/drawing/2016/SVG/main" r:embed="rId4"/>
              </a:ext>
            </a:extLst>
          </a:blip>
          <a:stretch/>
        </p:blipFill>
        <p:spPr bwMode="auto">
          <a:xfrm>
            <a:off x="718225" y="5175191"/>
            <a:ext cx="7155850" cy="1263151"/>
          </a:xfrm>
          <a:prstGeom prst="rect">
            <a:avLst/>
          </a:prstGeom>
        </p:spPr>
      </p:pic>
      <p:pic>
        <p:nvPicPr>
          <p:cNvPr id="976103926" name="Picture 3"/>
          <p:cNvPicPr>
            <a:picLocks noChangeAspect="1"/>
          </p:cNvPicPr>
          <p:nvPr/>
        </p:nvPicPr>
        <p:blipFill rotWithShape="1">
          <a:blip r:embed="rId5"/>
          <a:stretch/>
        </p:blipFill>
        <p:spPr bwMode="auto">
          <a:xfrm>
            <a:off x="718225" y="2210569"/>
            <a:ext cx="4992554" cy="136482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27653872" name="Text Placeholder 4"/>
          <p:cNvSpPr>
            <a:spLocks noGrp="1"/>
          </p:cNvSpPr>
          <p:nvPr>
            <p:ph type="body" sz="quarter" idx="10"/>
          </p:nvPr>
        </p:nvSpPr>
        <p:spPr bwMode="auto">
          <a:xfrm>
            <a:off x="624156" y="500674"/>
            <a:ext cx="7648083" cy="430317"/>
          </a:xfrm>
        </p:spPr>
        <p:txBody>
          <a:bodyPr>
            <a:noAutofit/>
          </a:bodyPr>
          <a:lstStyle/>
          <a:p>
            <a:pPr marL="342900" indent="-342900">
              <a:buFont typeface="Wingdings"/>
              <a:buChar char="§"/>
              <a:defRPr/>
            </a:pPr>
            <a:r>
              <a:rPr lang="en-US" sz="2000"/>
              <a:t>Guided Cantilever method</a:t>
            </a:r>
            <a:endParaRPr/>
          </a:p>
        </p:txBody>
      </p:sp>
      <p:sp>
        <p:nvSpPr>
          <p:cNvPr id="1126460254" name="TextBox 6"/>
          <p:cNvSpPr txBox="1"/>
          <p:nvPr/>
        </p:nvSpPr>
        <p:spPr bwMode="auto">
          <a:xfrm>
            <a:off x="463374" y="836711"/>
            <a:ext cx="11594350" cy="2133917"/>
          </a:xfrm>
          <a:prstGeom prst="rect">
            <a:avLst/>
          </a:prstGeom>
          <a:noFill/>
        </p:spPr>
        <p:txBody>
          <a:bodyPr wrap="square">
            <a:spAutoFit/>
          </a:bodyPr>
          <a:lstStyle/>
          <a:p>
            <a:pPr algn="just">
              <a:defRPr/>
            </a:pPr>
            <a:r>
              <a:rPr lang="en-US" sz="1400">
                <a:latin typeface="PT Serif"/>
              </a:rPr>
              <a:t>There are several simplified calculations can be performed quickly with hand. The most popular one is the so-called guided cantilever approach. The method can be explained using the L-bend given in Figure below as an example.  When the system  is not  constrained the points B and C will move to B' and C' respectively due to thermal expansion. The end point C moves dx and </a:t>
            </a:r>
            <a:r>
              <a:rPr lang="en-US" sz="1400">
                <a:latin typeface="PT Serif"/>
              </a:rPr>
              <a:t>dy</a:t>
            </a:r>
            <a:r>
              <a:rPr lang="en-US" sz="1400">
                <a:latin typeface="PT Serif"/>
              </a:rPr>
              <a:t> respectively in X- and Y- directions, but no internal force or stress will be generated. </a:t>
            </a:r>
            <a:endParaRPr/>
          </a:p>
        </p:txBody>
      </p:sp>
      <p:pic>
        <p:nvPicPr>
          <p:cNvPr id="1166249586" name="Picture 10"/>
          <p:cNvPicPr>
            <a:picLocks noChangeAspect="1"/>
          </p:cNvPicPr>
          <p:nvPr/>
        </p:nvPicPr>
        <p:blipFill rotWithShape="1">
          <a:blip r:embed="rId3"/>
          <a:stretch/>
        </p:blipFill>
        <p:spPr bwMode="auto">
          <a:xfrm>
            <a:off x="847416" y="3044957"/>
            <a:ext cx="6480915" cy="3512383"/>
          </a:xfrm>
          <a:prstGeom prst="rect">
            <a:avLst/>
          </a:prstGeom>
        </p:spPr>
      </p:pic>
      <p:sp>
        <p:nvSpPr>
          <p:cNvPr id="2137213680" name="Text Placeholder 4"/>
          <p:cNvSpPr txBox="1"/>
          <p:nvPr/>
        </p:nvSpPr>
        <p:spPr bwMode="auto">
          <a:xfrm>
            <a:off x="624156" y="154071"/>
            <a:ext cx="7904111" cy="430317"/>
          </a:xfrm>
          <a:prstGeom prst="rect">
            <a:avLst/>
          </a:prstGeom>
        </p:spPr>
        <p:txBody>
          <a:bodyPr vert="horz" lIns="0" tIns="0" rIns="0" bIns="0" rtlCol="0">
            <a:noAutofit/>
          </a:bodyPr>
          <a:lstStyle>
            <a:lvl1pPr marL="0" indent="0" algn="l" defTabSz="514337" rtl="0">
              <a:lnSpc>
                <a:spcPct val="100000"/>
              </a:lnSpc>
              <a:spcBef>
                <a:spcPts val="0"/>
              </a:spcBef>
              <a:spcAft>
                <a:spcPts val="450"/>
              </a:spcAft>
              <a:buFontTx/>
              <a:buNone/>
              <a:defRPr sz="2250" b="1" cap="all" spc="-22">
                <a:solidFill>
                  <a:schemeClr val="bg1"/>
                </a:solidFill>
                <a:latin typeface="+mn-lt"/>
                <a:ea typeface="+mn-ea"/>
                <a:cs typeface="+mn-cs"/>
              </a:defRPr>
            </a:lvl1pPr>
            <a:lvl2pPr marL="0" indent="0" algn="l" defTabSz="514337" rtl="0">
              <a:lnSpc>
                <a:spcPct val="100000"/>
              </a:lnSpc>
              <a:spcBef>
                <a:spcPts val="0"/>
              </a:spcBef>
              <a:spcAft>
                <a:spcPts val="450"/>
              </a:spcAft>
              <a:buFontTx/>
              <a:buNone/>
              <a:defRPr sz="900" b="1" spc="-10">
                <a:solidFill>
                  <a:schemeClr val="tx1"/>
                </a:solidFill>
                <a:latin typeface="+mn-lt"/>
                <a:ea typeface="+mn-ea"/>
                <a:cs typeface="+mn-cs"/>
              </a:defRPr>
            </a:lvl2pPr>
            <a:lvl3pPr marL="101247" indent="-101247" algn="l" defTabSz="514337" rtl="0">
              <a:lnSpc>
                <a:spcPct val="100000"/>
              </a:lnSpc>
              <a:spcBef>
                <a:spcPts val="0"/>
              </a:spcBef>
              <a:spcAft>
                <a:spcPts val="450"/>
              </a:spcAft>
              <a:buFont typeface="Arial"/>
              <a:buChar char="•"/>
              <a:defRPr sz="900" spc="-10">
                <a:solidFill>
                  <a:schemeClr val="tx1"/>
                </a:solidFill>
                <a:latin typeface="+mn-lt"/>
                <a:ea typeface="+mn-ea"/>
                <a:cs typeface="+mn-cs"/>
              </a:defRPr>
            </a:lvl3pPr>
            <a:lvl4pPr marL="202494" indent="-101247" algn="l" defTabSz="514337" rtl="0">
              <a:lnSpc>
                <a:spcPct val="100000"/>
              </a:lnSpc>
              <a:spcBef>
                <a:spcPts val="0"/>
              </a:spcBef>
              <a:spcAft>
                <a:spcPts val="450"/>
              </a:spcAft>
              <a:buFont typeface="Arial"/>
              <a:buChar char="–"/>
              <a:defRPr sz="800" spc="-10">
                <a:solidFill>
                  <a:schemeClr val="tx1"/>
                </a:solidFill>
                <a:latin typeface="+mn-lt"/>
                <a:ea typeface="+mn-ea"/>
                <a:cs typeface="+mn-cs"/>
              </a:defRPr>
            </a:lvl4pPr>
            <a:lvl5pPr marL="303742" indent="-101247" algn="l" defTabSz="514337" rtl="0">
              <a:lnSpc>
                <a:spcPct val="100000"/>
              </a:lnSpc>
              <a:spcBef>
                <a:spcPts val="0"/>
              </a:spcBef>
              <a:spcAft>
                <a:spcPts val="450"/>
              </a:spcAft>
              <a:buFont typeface="Wingdings"/>
              <a:buChar char="§"/>
              <a:defRPr sz="700">
                <a:solidFill>
                  <a:schemeClr val="tx1"/>
                </a:solidFill>
                <a:latin typeface="+mn-lt"/>
                <a:ea typeface="+mn-ea"/>
                <a:cs typeface="+mn-cs"/>
              </a:defRPr>
            </a:lvl5pPr>
            <a:lvl6pPr marL="1414426" indent="-128584" algn="l" defTabSz="514337" rtl="0">
              <a:spcBef>
                <a:spcPts val="0"/>
              </a:spcBef>
              <a:buFont typeface="Arial"/>
              <a:buChar char="•"/>
              <a:defRPr sz="1150">
                <a:solidFill>
                  <a:schemeClr val="tx1"/>
                </a:solidFill>
                <a:latin typeface="+mn-lt"/>
                <a:ea typeface="+mn-ea"/>
                <a:cs typeface="+mn-cs"/>
              </a:defRPr>
            </a:lvl6pPr>
            <a:lvl7pPr marL="1671597" indent="-128584" algn="l" defTabSz="514337" rtl="0">
              <a:spcBef>
                <a:spcPts val="0"/>
              </a:spcBef>
              <a:buFont typeface="Arial"/>
              <a:buChar char="•"/>
              <a:defRPr sz="1150">
                <a:solidFill>
                  <a:schemeClr val="tx1"/>
                </a:solidFill>
                <a:latin typeface="+mn-lt"/>
                <a:ea typeface="+mn-ea"/>
                <a:cs typeface="+mn-cs"/>
              </a:defRPr>
            </a:lvl7pPr>
            <a:lvl8pPr marL="1928763" indent="-128584" algn="l" defTabSz="514337" rtl="0">
              <a:spcBef>
                <a:spcPts val="0"/>
              </a:spcBef>
              <a:buFont typeface="Arial"/>
              <a:buChar char="•"/>
              <a:defRPr sz="1150">
                <a:solidFill>
                  <a:schemeClr val="tx1"/>
                </a:solidFill>
                <a:latin typeface="+mn-lt"/>
                <a:ea typeface="+mn-ea"/>
                <a:cs typeface="+mn-cs"/>
              </a:defRPr>
            </a:lvl8pPr>
            <a:lvl9pPr marL="2185932" indent="-128584" algn="l" defTabSz="514337" rtl="0">
              <a:spcBef>
                <a:spcPts val="0"/>
              </a:spcBef>
              <a:buFont typeface="Arial"/>
              <a:buChar char="•"/>
              <a:defRPr sz="1150">
                <a:solidFill>
                  <a:schemeClr val="tx1"/>
                </a:solidFill>
                <a:latin typeface="+mn-lt"/>
                <a:ea typeface="+mn-ea"/>
                <a:cs typeface="+mn-cs"/>
              </a:defRPr>
            </a:lvl9pPr>
          </a:lstStyle>
          <a:p>
            <a:pPr marL="342900" indent="-342900">
              <a:buFont typeface="Wingdings"/>
              <a:buChar char="Ø"/>
              <a:defRPr/>
            </a:pPr>
            <a:r>
              <a:rPr lang="en-US" sz="2000"/>
              <a:t>HAND CALCULATIONS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18616087" name="TextBox 1"/>
          <p:cNvSpPr txBox="1"/>
          <p:nvPr/>
        </p:nvSpPr>
        <p:spPr bwMode="auto">
          <a:xfrm>
            <a:off x="298824" y="260647"/>
            <a:ext cx="11594350" cy="2708433"/>
          </a:xfrm>
          <a:prstGeom prst="rect">
            <a:avLst/>
          </a:prstGeom>
          <a:noFill/>
        </p:spPr>
        <p:txBody>
          <a:bodyPr wrap="square">
            <a:spAutoFit/>
          </a:bodyPr>
          <a:lstStyle/>
          <a:p>
            <a:pPr algn="just">
              <a:defRPr/>
            </a:pPr>
            <a:r>
              <a:rPr lang="en-US" sz="1400">
                <a:latin typeface="PT Serif"/>
              </a:rPr>
              <a:t>However, in the actual case the ends of the piping are always constrained as shown in Figure below. This is equivalent in moving the free expanded end C' back to the original point C forcing the point B to move to B". The dx is the expansion from leg AB, and </a:t>
            </a:r>
            <a:r>
              <a:rPr lang="en-US" sz="1400">
                <a:latin typeface="PT Serif"/>
              </a:rPr>
              <a:t>dy</a:t>
            </a:r>
            <a:r>
              <a:rPr lang="en-US" sz="1400">
                <a:latin typeface="PT Serif"/>
              </a:rPr>
              <a:t> from leg CB. The deformation  of  each  leg  can be assumed to follow the guided cantilever shape (as shown in Caesar II snap below). This is conservative because the end rotation is ignored. The force and stress of each leg can now be estimated by the guided cantilever formula. The leg AB is a guided cantilever subject to </a:t>
            </a:r>
            <a:r>
              <a:rPr lang="en-US" sz="1400">
                <a:latin typeface="PT Serif"/>
              </a:rPr>
              <a:t>dy</a:t>
            </a:r>
            <a:r>
              <a:rPr lang="en-US" sz="1400">
                <a:latin typeface="PT Serif"/>
              </a:rPr>
              <a:t> displacement and leg CB a guided cantilever subject to dx displacement, respectively.</a:t>
            </a:r>
            <a:endParaRPr/>
          </a:p>
        </p:txBody>
      </p:sp>
      <p:pic>
        <p:nvPicPr>
          <p:cNvPr id="364561359" name="Picture 5"/>
          <p:cNvPicPr>
            <a:picLocks noChangeAspect="1"/>
          </p:cNvPicPr>
          <p:nvPr/>
        </p:nvPicPr>
        <p:blipFill rotWithShape="1">
          <a:blip r:embed="rId3"/>
          <a:stretch/>
        </p:blipFill>
        <p:spPr bwMode="auto">
          <a:xfrm>
            <a:off x="290369" y="2969081"/>
            <a:ext cx="5677615" cy="2933434"/>
          </a:xfrm>
          <a:prstGeom prst="rect">
            <a:avLst/>
          </a:prstGeom>
        </p:spPr>
      </p:pic>
      <p:pic>
        <p:nvPicPr>
          <p:cNvPr id="1011981093" name="Picture 7"/>
          <p:cNvPicPr>
            <a:picLocks noChangeAspect="1"/>
          </p:cNvPicPr>
          <p:nvPr/>
        </p:nvPicPr>
        <p:blipFill rotWithShape="1">
          <a:blip r:embed="rId4"/>
          <a:stretch/>
        </p:blipFill>
        <p:spPr bwMode="auto">
          <a:xfrm>
            <a:off x="6992101" y="3006631"/>
            <a:ext cx="4229859" cy="293343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27409756" name="Picture 2"/>
          <p:cNvPicPr>
            <a:picLocks noChangeAspect="1"/>
          </p:cNvPicPr>
          <p:nvPr/>
        </p:nvPicPr>
        <p:blipFill rotWithShape="1">
          <a:blip r:embed="rId3"/>
          <a:stretch/>
        </p:blipFill>
        <p:spPr bwMode="auto">
          <a:xfrm>
            <a:off x="3407701" y="790925"/>
            <a:ext cx="2219642" cy="777169"/>
          </a:xfrm>
          <a:prstGeom prst="rect">
            <a:avLst/>
          </a:prstGeom>
        </p:spPr>
      </p:pic>
      <p:sp>
        <p:nvSpPr>
          <p:cNvPr id="732470926" name="TextBox 12"/>
          <p:cNvSpPr txBox="1"/>
          <p:nvPr/>
        </p:nvSpPr>
        <p:spPr bwMode="auto">
          <a:xfrm>
            <a:off x="463374" y="164635"/>
            <a:ext cx="11265249" cy="615553"/>
          </a:xfrm>
          <a:prstGeom prst="rect">
            <a:avLst/>
          </a:prstGeom>
          <a:noFill/>
        </p:spPr>
        <p:txBody>
          <a:bodyPr wrap="square">
            <a:spAutoFit/>
          </a:bodyPr>
          <a:lstStyle/>
          <a:p>
            <a:pPr algn="just">
              <a:defRPr/>
            </a:pPr>
            <a:r>
              <a:rPr lang="en-US" sz="1200" b="0" i="0" u="none" strike="noStrike">
                <a:solidFill>
                  <a:srgbClr val="000000"/>
                </a:solidFill>
                <a:latin typeface="Arial"/>
              </a:rPr>
              <a:t>The formulae for calculation of </a:t>
            </a:r>
            <a:r>
              <a:rPr lang="en-US" sz="1200">
                <a:solidFill>
                  <a:srgbClr val="000000"/>
                </a:solidFill>
                <a:latin typeface="Arial"/>
              </a:rPr>
              <a:t>length of perpendicular leg </a:t>
            </a:r>
            <a:r>
              <a:rPr lang="en-US" sz="1200" b="0" i="0" u="none" strike="noStrike">
                <a:solidFill>
                  <a:srgbClr val="000000"/>
                </a:solidFill>
                <a:latin typeface="Arial"/>
              </a:rPr>
              <a:t>based on the Guided Cantilever Method </a:t>
            </a:r>
            <a:r>
              <a:rPr lang="en-US" sz="1200">
                <a:solidFill>
                  <a:srgbClr val="000000"/>
                </a:solidFill>
                <a:latin typeface="Arial"/>
              </a:rPr>
              <a:t>as per </a:t>
            </a:r>
            <a:r>
              <a:rPr lang="en-US" sz="1200" b="0" i="0" u="none" strike="noStrike">
                <a:solidFill>
                  <a:srgbClr val="000000"/>
                </a:solidFill>
                <a:latin typeface="Arial"/>
              </a:rPr>
              <a:t>"Introduction to Piping Stress Analysis" by Sam </a:t>
            </a:r>
            <a:r>
              <a:rPr lang="en-US" sz="1200" b="0" i="0" u="none" strike="noStrike">
                <a:solidFill>
                  <a:srgbClr val="000000"/>
                </a:solidFill>
                <a:latin typeface="Arial"/>
              </a:rPr>
              <a:t>Kannappan</a:t>
            </a:r>
            <a:r>
              <a:rPr lang="en-US" sz="1200">
                <a:solidFill>
                  <a:srgbClr val="000000"/>
                </a:solidFill>
                <a:latin typeface="Arial"/>
              </a:rPr>
              <a:t> is as follows</a:t>
            </a:r>
            <a:endParaRPr lang="en-US" sz="1200"/>
          </a:p>
        </p:txBody>
      </p:sp>
      <p:sp>
        <p:nvSpPr>
          <p:cNvPr id="119927015" name="TextBox 13"/>
          <p:cNvSpPr txBox="1"/>
          <p:nvPr/>
        </p:nvSpPr>
        <p:spPr bwMode="auto">
          <a:xfrm>
            <a:off x="190954" y="1250251"/>
            <a:ext cx="11649294" cy="2092879"/>
          </a:xfrm>
          <a:prstGeom prst="rect">
            <a:avLst/>
          </a:prstGeom>
          <a:noFill/>
        </p:spPr>
        <p:txBody>
          <a:bodyPr wrap="square">
            <a:spAutoFit/>
          </a:bodyPr>
          <a:lstStyle/>
          <a:p>
            <a:pPr algn="just">
              <a:defRPr/>
            </a:pPr>
            <a:r>
              <a:rPr lang="en-US" sz="1200" b="0" i="0" u="none" strike="noStrike">
                <a:solidFill>
                  <a:srgbClr val="000000"/>
                </a:solidFill>
                <a:latin typeface="Arial"/>
              </a:rPr>
              <a:t>Where</a:t>
            </a:r>
            <a:r>
              <a:rPr lang="en-US" sz="1200">
                <a:solidFill>
                  <a:srgbClr val="000000"/>
                </a:solidFill>
                <a:latin typeface="Arial"/>
              </a:rPr>
              <a:t>,</a:t>
            </a:r>
            <a:endParaRPr/>
          </a:p>
          <a:p>
            <a:pPr algn="just">
              <a:defRPr/>
            </a:pPr>
            <a:r>
              <a:rPr lang="en-US" sz="1200">
                <a:solidFill>
                  <a:srgbClr val="000000"/>
                </a:solidFill>
                <a:latin typeface="Arial"/>
                <a:cs typeface="Arial"/>
              </a:rPr>
              <a:t>	Δ = permissible deflection, in </a:t>
            </a:r>
            <a:endParaRPr/>
          </a:p>
          <a:p>
            <a:pPr algn="just">
              <a:defRPr/>
            </a:pPr>
            <a:r>
              <a:rPr lang="en-US" sz="1200">
                <a:solidFill>
                  <a:srgbClr val="000000"/>
                </a:solidFill>
                <a:latin typeface="Arial"/>
                <a:cs typeface="Arial"/>
              </a:rPr>
              <a:t>	S</a:t>
            </a:r>
            <a:r>
              <a:rPr lang="en-US" sz="1200" baseline="-25000">
                <a:solidFill>
                  <a:srgbClr val="000000"/>
                </a:solidFill>
                <a:latin typeface="Arial"/>
                <a:cs typeface="Arial"/>
              </a:rPr>
              <a:t>A</a:t>
            </a:r>
            <a:r>
              <a:rPr lang="en-US" sz="1200">
                <a:solidFill>
                  <a:srgbClr val="000000"/>
                </a:solidFill>
                <a:latin typeface="Arial"/>
                <a:cs typeface="Arial"/>
              </a:rPr>
              <a:t> = Allowable stress range, psi (equ.1a from 31.3 refer next slide)</a:t>
            </a:r>
            <a:endParaRPr/>
          </a:p>
          <a:p>
            <a:pPr algn="just">
              <a:defRPr/>
            </a:pPr>
            <a:r>
              <a:rPr lang="en-US" sz="1200">
                <a:solidFill>
                  <a:srgbClr val="000000"/>
                </a:solidFill>
                <a:latin typeface="Arial"/>
                <a:cs typeface="Arial"/>
              </a:rPr>
              <a:t>	L = Length of leg needed to absorb expansion, ft</a:t>
            </a:r>
            <a:endParaRPr/>
          </a:p>
          <a:p>
            <a:pPr algn="just">
              <a:defRPr/>
            </a:pPr>
            <a:r>
              <a:rPr lang="en-US" sz="1200">
                <a:solidFill>
                  <a:srgbClr val="000000"/>
                </a:solidFill>
                <a:latin typeface="Arial"/>
                <a:cs typeface="Arial"/>
              </a:rPr>
              <a:t>	D</a:t>
            </a:r>
            <a:r>
              <a:rPr lang="en-US" sz="1200" baseline="-25000">
                <a:solidFill>
                  <a:srgbClr val="000000"/>
                </a:solidFill>
                <a:latin typeface="Arial"/>
                <a:cs typeface="Arial"/>
              </a:rPr>
              <a:t>o</a:t>
            </a:r>
            <a:r>
              <a:rPr lang="en-US" sz="1200">
                <a:solidFill>
                  <a:srgbClr val="000000"/>
                </a:solidFill>
                <a:latin typeface="Arial"/>
                <a:cs typeface="Arial"/>
              </a:rPr>
              <a:t> = Outside diameter of pipe, in</a:t>
            </a:r>
            <a:endParaRPr/>
          </a:p>
          <a:p>
            <a:pPr algn="just">
              <a:defRPr/>
            </a:pPr>
            <a:r>
              <a:rPr lang="en-US" sz="1200">
                <a:solidFill>
                  <a:srgbClr val="000000"/>
                </a:solidFill>
                <a:latin typeface="Arial"/>
                <a:cs typeface="Arial"/>
              </a:rPr>
              <a:t>	E=Modulus of Elasticity at Design Temp., psi			</a:t>
            </a:r>
            <a:endParaRPr/>
          </a:p>
          <a:p>
            <a:pPr algn="just">
              <a:defRPr/>
            </a:pPr>
            <a:r>
              <a:rPr lang="en-US" sz="1200">
                <a:solidFill>
                  <a:srgbClr val="000000"/>
                </a:solidFill>
                <a:latin typeface="Arial"/>
                <a:cs typeface="Arial"/>
              </a:rPr>
              <a:t> </a:t>
            </a:r>
            <a:endParaRPr lang="en-US" sz="1200"/>
          </a:p>
        </p:txBody>
      </p:sp>
      <p:sp>
        <p:nvSpPr>
          <p:cNvPr id="1258684414" name="TextBox 15"/>
          <p:cNvSpPr txBox="1"/>
          <p:nvPr/>
        </p:nvSpPr>
        <p:spPr bwMode="auto">
          <a:xfrm>
            <a:off x="335359" y="3366555"/>
            <a:ext cx="11751414" cy="2831544"/>
          </a:xfrm>
          <a:prstGeom prst="rect">
            <a:avLst/>
          </a:prstGeom>
          <a:noFill/>
        </p:spPr>
        <p:txBody>
          <a:bodyPr wrap="square">
            <a:spAutoFit/>
          </a:bodyPr>
          <a:lstStyle/>
          <a:p>
            <a:pPr algn="just">
              <a:defRPr/>
            </a:pPr>
            <a:r>
              <a:rPr lang="en-US" sz="1200"/>
              <a:t>The limitations of guided cantilever method are:</a:t>
            </a:r>
            <a:endParaRPr/>
          </a:p>
          <a:p>
            <a:pPr marL="171450" indent="-171450" algn="just">
              <a:buFont typeface="Wingdings"/>
              <a:buChar char="§"/>
              <a:defRPr/>
            </a:pPr>
            <a:r>
              <a:rPr lang="en-US" sz="1200"/>
              <a:t>The system has only two terminal points and it is composed of straight legs of a pipe with uniform size and thickness and square corner intersections. </a:t>
            </a:r>
            <a:endParaRPr/>
          </a:p>
          <a:p>
            <a:pPr marL="171450" indent="-171450" algn="just">
              <a:buFont typeface="Wingdings"/>
              <a:buChar char="§"/>
              <a:defRPr/>
            </a:pPr>
            <a:r>
              <a:rPr lang="en-US" sz="1200"/>
              <a:t>All legs are parallel to the coordinate axes. </a:t>
            </a:r>
            <a:endParaRPr/>
          </a:p>
          <a:p>
            <a:pPr marL="171450" indent="-171450" algn="just">
              <a:buFont typeface="Wingdings"/>
              <a:buChar char="§"/>
              <a:defRPr/>
            </a:pPr>
            <a:r>
              <a:rPr lang="en-US" sz="1200"/>
              <a:t>Thermal expansion is absorbed only by legs in a perpendicular direction. </a:t>
            </a:r>
            <a:endParaRPr/>
          </a:p>
          <a:p>
            <a:pPr marL="171450" indent="-171450" algn="just">
              <a:buFont typeface="Wingdings"/>
              <a:buChar char="§"/>
              <a:defRPr/>
            </a:pPr>
            <a:r>
              <a:rPr lang="en-US" sz="1200"/>
              <a:t>The amount of thermal expansion that a given leg can absorb is inversely proportional to its stiffness. Because the legs are of identical cross section, their stiffness will vary according to the inverse value of the cube of their lengths. </a:t>
            </a:r>
            <a:endParaRPr/>
          </a:p>
          <a:p>
            <a:pPr marL="171450" indent="-171450" algn="just">
              <a:buFont typeface="Wingdings"/>
              <a:buChar char="§"/>
              <a:defRPr/>
            </a:pPr>
            <a:r>
              <a:rPr lang="en-US" sz="1200"/>
              <a:t>In accommodating thermal expansion, the legs act as guided cantilevers, that is, they are subjected to bending under end displacements; however, no end rotation is permitted, as shown in Figure before.</a:t>
            </a:r>
            <a:endParaRPr/>
          </a:p>
        </p:txBody>
      </p:sp>
      <p:sp>
        <p:nvSpPr>
          <p:cNvPr id="527453529" name="TextBox 17"/>
          <p:cNvSpPr txBox="1"/>
          <p:nvPr/>
        </p:nvSpPr>
        <p:spPr bwMode="auto">
          <a:xfrm>
            <a:off x="463374" y="2733465"/>
            <a:ext cx="11912209" cy="984885"/>
          </a:xfrm>
          <a:prstGeom prst="rect">
            <a:avLst/>
          </a:prstGeom>
          <a:noFill/>
        </p:spPr>
        <p:txBody>
          <a:bodyPr wrap="square">
            <a:spAutoFit/>
          </a:bodyPr>
          <a:lstStyle/>
          <a:p>
            <a:pPr>
              <a:defRPr/>
            </a:pPr>
            <a:r>
              <a:rPr lang="en-US" sz="1400" b="0" i="0">
                <a:latin typeface="Libre Franklin"/>
              </a:rPr>
              <a:t>The above equation can be approximated </a:t>
            </a:r>
            <a:r>
              <a:rPr lang="en-US" sz="1400">
                <a:latin typeface="Libre Franklin"/>
              </a:rPr>
              <a:t>for</a:t>
            </a:r>
            <a:r>
              <a:rPr lang="en-US" sz="1400" b="0" i="0">
                <a:latin typeface="Libre Franklin"/>
              </a:rPr>
              <a:t> Carbon/stainless steel as,</a:t>
            </a:r>
            <a:endParaRPr/>
          </a:p>
          <a:p>
            <a:pPr>
              <a:defRPr/>
            </a:pPr>
            <a:r>
              <a:rPr lang="en-US" sz="1400" b="0" i="0">
                <a:latin typeface="Libre Franklin"/>
              </a:rPr>
              <a:t> </a:t>
            </a:r>
            <a:r>
              <a:rPr lang="en-US" sz="1400" b="1" i="0">
                <a:latin typeface="Libre Franklin"/>
              </a:rPr>
              <a:t>L=66 (D∆)</a:t>
            </a:r>
            <a:r>
              <a:rPr lang="en-US" sz="1400" b="1" i="0" baseline="30000">
                <a:latin typeface="Libre Franklin"/>
              </a:rPr>
              <a:t>1/2</a:t>
            </a:r>
            <a:r>
              <a:rPr lang="en-US" sz="1400" b="1" baseline="30000">
                <a:latin typeface="Libre Franklin"/>
              </a:rPr>
              <a:t>   </a:t>
            </a:r>
            <a:r>
              <a:rPr lang="en-US" sz="1400" i="0">
                <a:latin typeface="Libre Franklin"/>
              </a:rPr>
              <a:t>in. (same is already discussed in Visual check slide)</a:t>
            </a:r>
            <a:endParaRPr/>
          </a:p>
          <a:p>
            <a:pPr>
              <a:defRPr/>
            </a:pPr>
            <a:endParaRPr lang="en-US"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92661260" name="TextBox 3"/>
          <p:cNvSpPr txBox="1"/>
          <p:nvPr/>
        </p:nvSpPr>
        <p:spPr bwMode="auto">
          <a:xfrm>
            <a:off x="207345" y="260647"/>
            <a:ext cx="11594350" cy="697626"/>
          </a:xfrm>
          <a:prstGeom prst="rect">
            <a:avLst/>
          </a:prstGeom>
          <a:noFill/>
        </p:spPr>
        <p:txBody>
          <a:bodyPr wrap="square">
            <a:spAutoFit/>
          </a:bodyPr>
          <a:lstStyle/>
          <a:p>
            <a:pPr algn="just">
              <a:defRPr/>
            </a:pPr>
            <a:r>
              <a:rPr lang="en-US" sz="1400">
                <a:latin typeface="PT Serif"/>
              </a:rPr>
              <a:t>In the equation thermal expansion stress “S” is nothing but S</a:t>
            </a:r>
            <a:r>
              <a:rPr lang="en-US" sz="700">
                <a:latin typeface="PT Serif"/>
              </a:rPr>
              <a:t>A</a:t>
            </a:r>
            <a:r>
              <a:rPr lang="en-US" sz="1400">
                <a:latin typeface="PT Serif"/>
              </a:rPr>
              <a:t> , </a:t>
            </a:r>
            <a:endParaRPr/>
          </a:p>
          <a:p>
            <a:pPr algn="just">
              <a:defRPr/>
            </a:pPr>
            <a:r>
              <a:rPr lang="en-US" sz="1400">
                <a:latin typeface="PT Serif"/>
              </a:rPr>
              <a:t>Formula for S</a:t>
            </a:r>
            <a:r>
              <a:rPr lang="en-US" sz="700">
                <a:latin typeface="PT Serif"/>
              </a:rPr>
              <a:t>A</a:t>
            </a:r>
            <a:r>
              <a:rPr lang="en-US" sz="1400">
                <a:latin typeface="PT Serif"/>
              </a:rPr>
              <a:t> from 31.3 (without Liberal) to be used. </a:t>
            </a:r>
            <a:endParaRPr/>
          </a:p>
        </p:txBody>
      </p:sp>
      <p:pic>
        <p:nvPicPr>
          <p:cNvPr id="454943880" name="Picture 2"/>
          <p:cNvPicPr>
            <a:picLocks noChangeAspect="1"/>
          </p:cNvPicPr>
          <p:nvPr/>
        </p:nvPicPr>
        <p:blipFill rotWithShape="1">
          <a:blip r:embed="rId3"/>
          <a:srcRect l="0" t="0" r="-2528" b="47662"/>
          <a:stretch/>
        </p:blipFill>
        <p:spPr bwMode="auto">
          <a:xfrm>
            <a:off x="391407" y="974762"/>
            <a:ext cx="6600691" cy="1494130"/>
          </a:xfrm>
          <a:prstGeom prst="rect">
            <a:avLst/>
          </a:prstGeom>
        </p:spPr>
      </p:pic>
      <p:pic>
        <p:nvPicPr>
          <p:cNvPr id="1399858193" name="Picture 6"/>
          <p:cNvPicPr>
            <a:picLocks noChangeAspect="1"/>
          </p:cNvPicPr>
          <p:nvPr/>
        </p:nvPicPr>
        <p:blipFill rotWithShape="1">
          <a:blip r:embed="rId4"/>
          <a:srcRect l="0" t="0" r="0" b="21619"/>
          <a:stretch/>
        </p:blipFill>
        <p:spPr bwMode="auto">
          <a:xfrm>
            <a:off x="391407" y="2632345"/>
            <a:ext cx="4650696" cy="325089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94691528" name="TextBox 12"/>
          <p:cNvSpPr txBox="1"/>
          <p:nvPr/>
        </p:nvSpPr>
        <p:spPr bwMode="auto">
          <a:xfrm>
            <a:off x="463374" y="164635"/>
            <a:ext cx="11265249" cy="1107995"/>
          </a:xfrm>
          <a:prstGeom prst="rect">
            <a:avLst/>
          </a:prstGeom>
          <a:noFill/>
        </p:spPr>
        <p:txBody>
          <a:bodyPr wrap="square">
            <a:spAutoFit/>
          </a:bodyPr>
          <a:lstStyle/>
          <a:p>
            <a:pPr algn="just">
              <a:defRPr/>
            </a:pPr>
            <a:r>
              <a:rPr lang="en-US" sz="1200" b="1">
                <a:solidFill>
                  <a:schemeClr val="bg1"/>
                </a:solidFill>
                <a:latin typeface="PT Serif"/>
              </a:rPr>
              <a:t>Example:</a:t>
            </a:r>
            <a:endParaRPr/>
          </a:p>
          <a:p>
            <a:pPr algn="just">
              <a:defRPr/>
            </a:pPr>
            <a:r>
              <a:rPr lang="en-US" sz="1200">
                <a:latin typeface="PT Serif"/>
              </a:rPr>
              <a:t>Let us take an example of 16” Pipe with design temperature 262.8 Deg C and L1 length 29.718m and material A106Gr.B. To find required L2 length procedure using guided cantilever as follows</a:t>
            </a:r>
            <a:endParaRPr/>
          </a:p>
        </p:txBody>
      </p:sp>
      <p:sp>
        <p:nvSpPr>
          <p:cNvPr id="297752858" name="TextBox 15"/>
          <p:cNvSpPr txBox="1"/>
          <p:nvPr/>
        </p:nvSpPr>
        <p:spPr bwMode="auto">
          <a:xfrm>
            <a:off x="463374" y="1272633"/>
            <a:ext cx="11751414" cy="5047535"/>
          </a:xfrm>
          <a:prstGeom prst="rect">
            <a:avLst/>
          </a:prstGeom>
          <a:noFill/>
        </p:spPr>
        <p:txBody>
          <a:bodyPr wrap="square">
            <a:spAutoFit/>
          </a:bodyPr>
          <a:lstStyle/>
          <a:p>
            <a:pPr algn="just">
              <a:defRPr/>
            </a:pPr>
            <a:r>
              <a:rPr lang="en-US" sz="1200">
                <a:solidFill>
                  <a:srgbClr val="000000"/>
                </a:solidFill>
                <a:latin typeface="Arial"/>
                <a:cs typeface="Arial"/>
              </a:rPr>
              <a:t>Solution:</a:t>
            </a:r>
            <a:endParaRPr/>
          </a:p>
          <a:p>
            <a:pPr algn="just">
              <a:defRPr/>
            </a:pPr>
            <a:endParaRPr lang="en-US" sz="1200">
              <a:solidFill>
                <a:srgbClr val="000000"/>
              </a:solidFill>
              <a:latin typeface="Arial"/>
              <a:cs typeface="Arial"/>
            </a:endParaRPr>
          </a:p>
          <a:p>
            <a:pPr algn="just">
              <a:defRPr/>
            </a:pPr>
            <a:r>
              <a:rPr lang="en-US" sz="1200">
                <a:solidFill>
                  <a:srgbClr val="000000"/>
                </a:solidFill>
                <a:latin typeface="Arial"/>
                <a:cs typeface="Arial"/>
              </a:rPr>
              <a:t>D</a:t>
            </a:r>
            <a:r>
              <a:rPr lang="en-US" sz="1200" baseline="-25000">
                <a:solidFill>
                  <a:srgbClr val="000000"/>
                </a:solidFill>
                <a:latin typeface="Arial"/>
                <a:cs typeface="Arial"/>
              </a:rPr>
              <a:t>o</a:t>
            </a:r>
            <a:r>
              <a:rPr lang="en-US" sz="1200">
                <a:solidFill>
                  <a:srgbClr val="000000"/>
                </a:solidFill>
                <a:latin typeface="Arial"/>
                <a:cs typeface="Arial"/>
              </a:rPr>
              <a:t> = Outside diameter of pipe, in =16”</a:t>
            </a:r>
            <a:endParaRPr/>
          </a:p>
          <a:p>
            <a:pPr algn="just">
              <a:defRPr/>
            </a:pPr>
            <a:r>
              <a:rPr lang="en-US" sz="1200">
                <a:solidFill>
                  <a:srgbClr val="000000"/>
                </a:solidFill>
                <a:latin typeface="Arial"/>
                <a:cs typeface="Arial"/>
              </a:rPr>
              <a:t>E=Modulus of Elasticity at Design Temp., psi (from table C-6 of 31.3)</a:t>
            </a:r>
            <a:endParaRPr/>
          </a:p>
          <a:p>
            <a:pPr algn="just">
              <a:defRPr/>
            </a:pPr>
            <a:r>
              <a:rPr lang="en-US" sz="1200">
                <a:solidFill>
                  <a:srgbClr val="000000"/>
                </a:solidFill>
                <a:latin typeface="Arial"/>
                <a:cs typeface="Arial"/>
              </a:rPr>
              <a:t>   = 188020 </a:t>
            </a:r>
            <a:r>
              <a:rPr lang="en-US" sz="1200">
                <a:solidFill>
                  <a:srgbClr val="000000"/>
                </a:solidFill>
                <a:latin typeface="Arial"/>
                <a:cs typeface="Arial"/>
              </a:rPr>
              <a:t>Mpa</a:t>
            </a:r>
            <a:r>
              <a:rPr lang="en-US" sz="1200">
                <a:solidFill>
                  <a:srgbClr val="000000"/>
                </a:solidFill>
                <a:latin typeface="Arial"/>
                <a:cs typeface="Arial"/>
              </a:rPr>
              <a:t> = 2.727e+007 psi</a:t>
            </a:r>
            <a:endParaRPr/>
          </a:p>
          <a:p>
            <a:pPr algn="just">
              <a:defRPr/>
            </a:pPr>
            <a:r>
              <a:rPr lang="en-US" sz="1200">
                <a:solidFill>
                  <a:srgbClr val="000000"/>
                </a:solidFill>
                <a:latin typeface="Arial"/>
                <a:cs typeface="Arial"/>
              </a:rPr>
              <a:t>Δ = permissible deflection, in </a:t>
            </a:r>
            <a:endParaRPr/>
          </a:p>
          <a:p>
            <a:pPr algn="just">
              <a:defRPr/>
            </a:pPr>
            <a:r>
              <a:rPr lang="en-US" sz="1200">
                <a:solidFill>
                  <a:srgbClr val="000000"/>
                </a:solidFill>
                <a:latin typeface="Arial"/>
                <a:cs typeface="Arial"/>
              </a:rPr>
              <a:t>Δ =</a:t>
            </a:r>
            <a:r>
              <a:rPr lang="el-GR" sz="1200">
                <a:solidFill>
                  <a:srgbClr val="000000"/>
                </a:solidFill>
                <a:latin typeface="Arial"/>
                <a:cs typeface="Arial"/>
              </a:rPr>
              <a:t>α</a:t>
            </a:r>
            <a:r>
              <a:rPr lang="en-US" sz="1200">
                <a:solidFill>
                  <a:srgbClr val="000000"/>
                </a:solidFill>
                <a:latin typeface="Arial"/>
                <a:cs typeface="Arial"/>
              </a:rPr>
              <a:t> x L1 </a:t>
            </a:r>
            <a:endParaRPr/>
          </a:p>
          <a:p>
            <a:pPr algn="just">
              <a:defRPr/>
            </a:pPr>
            <a:r>
              <a:rPr lang="en-US" sz="1200">
                <a:solidFill>
                  <a:srgbClr val="000000"/>
                </a:solidFill>
                <a:latin typeface="Arial"/>
                <a:cs typeface="Arial"/>
              </a:rPr>
              <a:t> </a:t>
            </a:r>
            <a:r>
              <a:rPr lang="el-GR" sz="1200">
                <a:solidFill>
                  <a:srgbClr val="000000"/>
                </a:solidFill>
                <a:latin typeface="Arial"/>
                <a:cs typeface="Arial"/>
              </a:rPr>
              <a:t>α</a:t>
            </a:r>
            <a:r>
              <a:rPr lang="en-US" sz="1200">
                <a:solidFill>
                  <a:srgbClr val="000000"/>
                </a:solidFill>
                <a:latin typeface="Arial"/>
                <a:cs typeface="Arial"/>
              </a:rPr>
              <a:t>=Linear Thermal Expansion, mm/m (from table C-1M of 31.3) = 3.2mm/m</a:t>
            </a:r>
            <a:endParaRPr/>
          </a:p>
          <a:p>
            <a:pPr algn="just">
              <a:defRPr/>
            </a:pPr>
            <a:r>
              <a:rPr lang="en-US" sz="1200">
                <a:solidFill>
                  <a:srgbClr val="000000"/>
                </a:solidFill>
                <a:latin typeface="Arial"/>
                <a:cs typeface="Arial"/>
              </a:rPr>
              <a:t>Δ =3.2*29.718= 95.0976mm =3.74399 in</a:t>
            </a:r>
            <a:endParaRPr/>
          </a:p>
          <a:p>
            <a:pPr algn="just">
              <a:defRPr/>
            </a:pPr>
            <a:r>
              <a:rPr lang="en-US" sz="1200">
                <a:solidFill>
                  <a:srgbClr val="000000"/>
                </a:solidFill>
                <a:latin typeface="Arial"/>
                <a:cs typeface="Arial"/>
              </a:rPr>
              <a:t>S</a:t>
            </a:r>
            <a:r>
              <a:rPr lang="en-US" sz="1200" baseline="-25000">
                <a:solidFill>
                  <a:srgbClr val="000000"/>
                </a:solidFill>
                <a:latin typeface="Arial"/>
                <a:cs typeface="Arial"/>
              </a:rPr>
              <a:t>A</a:t>
            </a:r>
            <a:r>
              <a:rPr lang="en-US" sz="1200">
                <a:solidFill>
                  <a:srgbClr val="000000"/>
                </a:solidFill>
                <a:latin typeface="Arial"/>
                <a:cs typeface="Arial"/>
              </a:rPr>
              <a:t> = Allowable stress range, psi (equ.1a from 31.3)</a:t>
            </a:r>
            <a:endParaRPr/>
          </a:p>
          <a:p>
            <a:pPr algn="just">
              <a:defRPr/>
            </a:pPr>
            <a:r>
              <a:rPr lang="en-US" sz="1200">
                <a:solidFill>
                  <a:srgbClr val="000000"/>
                </a:solidFill>
                <a:latin typeface="Arial"/>
                <a:cs typeface="Arial"/>
              </a:rPr>
              <a:t>S</a:t>
            </a:r>
            <a:r>
              <a:rPr lang="en-US" sz="1200" baseline="-25000">
                <a:solidFill>
                  <a:srgbClr val="000000"/>
                </a:solidFill>
                <a:latin typeface="Arial"/>
                <a:cs typeface="Arial"/>
              </a:rPr>
              <a:t>A</a:t>
            </a:r>
            <a:r>
              <a:rPr lang="en-US" sz="1200">
                <a:solidFill>
                  <a:srgbClr val="000000"/>
                </a:solidFill>
                <a:latin typeface="Arial"/>
                <a:cs typeface="Arial"/>
              </a:rPr>
              <a:t>=f(1.25Sc+0.25Sh)= 1*(1.25*138+0.25*130)=205MPa= 29732.7psi</a:t>
            </a:r>
            <a:endParaRPr/>
          </a:p>
          <a:p>
            <a:pPr algn="just">
              <a:defRPr/>
            </a:pPr>
            <a:r>
              <a:rPr lang="en-US" sz="1200">
                <a:solidFill>
                  <a:srgbClr val="000000"/>
                </a:solidFill>
                <a:latin typeface="Arial"/>
                <a:cs typeface="Arial"/>
              </a:rPr>
              <a:t>      (f=1 assuming 7000 cycles and Sc and </a:t>
            </a:r>
            <a:r>
              <a:rPr lang="en-US" sz="1200">
                <a:solidFill>
                  <a:srgbClr val="000000"/>
                </a:solidFill>
                <a:latin typeface="Arial"/>
                <a:cs typeface="Arial"/>
              </a:rPr>
              <a:t>Sh</a:t>
            </a:r>
            <a:r>
              <a:rPr lang="en-US" sz="1200">
                <a:solidFill>
                  <a:srgbClr val="000000"/>
                </a:solidFill>
                <a:latin typeface="Arial"/>
                <a:cs typeface="Arial"/>
              </a:rPr>
              <a:t> taken from table A-1 of B31.3)</a:t>
            </a:r>
            <a:endParaRPr/>
          </a:p>
          <a:p>
            <a:pPr algn="just">
              <a:defRPr/>
            </a:pPr>
            <a:r>
              <a:rPr lang="en-US" sz="1200">
                <a:solidFill>
                  <a:srgbClr val="000000"/>
                </a:solidFill>
                <a:latin typeface="Arial"/>
                <a:cs typeface="Arial"/>
              </a:rPr>
              <a:t>L = Length of leg needed to absorb expansion, ft =?</a:t>
            </a:r>
            <a:endParaRPr/>
          </a:p>
          <a:p>
            <a:pPr algn="just">
              <a:defRPr/>
            </a:pPr>
            <a:endParaRPr lang="en-US" sz="1200">
              <a:solidFill>
                <a:srgbClr val="000000"/>
              </a:solidFill>
              <a:latin typeface="Arial"/>
              <a:cs typeface="Arial"/>
            </a:endParaRPr>
          </a:p>
          <a:p>
            <a:pPr algn="just">
              <a:defRPr/>
            </a:pPr>
            <a:r>
              <a:rPr lang="en-US" sz="1200">
                <a:solidFill>
                  <a:srgbClr val="000000"/>
                </a:solidFill>
                <a:latin typeface="Arial"/>
                <a:cs typeface="Arial"/>
              </a:rPr>
              <a:t>Now substituting all these in equation </a:t>
            </a:r>
            <a:endParaRPr/>
          </a:p>
          <a:p>
            <a:pPr algn="just">
              <a:defRPr/>
            </a:pPr>
            <a:r>
              <a:rPr lang="en-US" sz="1200">
                <a:solidFill>
                  <a:srgbClr val="000000"/>
                </a:solidFill>
                <a:latin typeface="Arial"/>
                <a:cs typeface="Arial"/>
              </a:rPr>
              <a:t>	</a:t>
            </a:r>
            <a:endParaRPr/>
          </a:p>
          <a:p>
            <a:pPr algn="just">
              <a:defRPr/>
            </a:pPr>
            <a:endParaRPr lang="en-US" sz="1200">
              <a:solidFill>
                <a:srgbClr val="000000"/>
              </a:solidFill>
              <a:latin typeface="Arial"/>
              <a:cs typeface="Arial"/>
            </a:endParaRPr>
          </a:p>
          <a:p>
            <a:pPr algn="just">
              <a:defRPr/>
            </a:pPr>
            <a:r>
              <a:rPr lang="en-US" sz="1200" b="1">
                <a:solidFill>
                  <a:srgbClr val="000000"/>
                </a:solidFill>
                <a:latin typeface="Arial"/>
                <a:cs typeface="Arial"/>
              </a:rPr>
              <a:t>We get L =L2= 33.83 ft =10.3m</a:t>
            </a:r>
            <a:endParaRPr/>
          </a:p>
          <a:p>
            <a:pPr algn="just">
              <a:defRPr/>
            </a:pPr>
            <a:r>
              <a:rPr lang="en-US" sz="1200"/>
              <a:t>By using approximated equation for Carbon/stainless steel  L=66 (D∆)</a:t>
            </a:r>
            <a:r>
              <a:rPr lang="en-US" sz="1200" baseline="30000"/>
              <a:t>1/2</a:t>
            </a:r>
            <a:r>
              <a:rPr lang="en-US" sz="1200"/>
              <a:t> in</a:t>
            </a:r>
            <a:endParaRPr/>
          </a:p>
          <a:p>
            <a:pPr algn="just">
              <a:defRPr/>
            </a:pPr>
            <a:r>
              <a:rPr lang="en-US" sz="1200" b="1">
                <a:solidFill>
                  <a:srgbClr val="000000"/>
                </a:solidFill>
                <a:latin typeface="Arial"/>
                <a:cs typeface="Arial"/>
              </a:rPr>
              <a:t>L =L2= 510.82 in =12.98m</a:t>
            </a:r>
            <a:endParaRPr lang="en-US" sz="1200"/>
          </a:p>
        </p:txBody>
      </p:sp>
      <p:pic>
        <p:nvPicPr>
          <p:cNvPr id="1644191667" name="Picture 5"/>
          <p:cNvPicPr>
            <a:picLocks noChangeAspect="1"/>
          </p:cNvPicPr>
          <p:nvPr/>
        </p:nvPicPr>
        <p:blipFill rotWithShape="1">
          <a:blip r:embed="rId3"/>
          <a:stretch/>
        </p:blipFill>
        <p:spPr bwMode="auto">
          <a:xfrm>
            <a:off x="9296355" y="764254"/>
            <a:ext cx="2688298" cy="2026154"/>
          </a:xfrm>
          <a:prstGeom prst="rect">
            <a:avLst/>
          </a:prstGeom>
        </p:spPr>
      </p:pic>
      <p:pic>
        <p:nvPicPr>
          <p:cNvPr id="290822567" name="Picture 6"/>
          <p:cNvPicPr>
            <a:picLocks noChangeAspect="1"/>
          </p:cNvPicPr>
          <p:nvPr/>
        </p:nvPicPr>
        <p:blipFill rotWithShape="1">
          <a:blip r:embed="rId4"/>
          <a:stretch/>
        </p:blipFill>
        <p:spPr bwMode="auto">
          <a:xfrm>
            <a:off x="5229258" y="4558114"/>
            <a:ext cx="2219642" cy="77716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42938407" name="TextBox 2"/>
          <p:cNvSpPr txBox="1"/>
          <p:nvPr/>
        </p:nvSpPr>
        <p:spPr bwMode="auto">
          <a:xfrm>
            <a:off x="463374" y="164635"/>
            <a:ext cx="11265249" cy="861774"/>
          </a:xfrm>
          <a:prstGeom prst="rect">
            <a:avLst/>
          </a:prstGeom>
          <a:noFill/>
        </p:spPr>
        <p:txBody>
          <a:bodyPr wrap="square">
            <a:spAutoFit/>
          </a:bodyPr>
          <a:lstStyle/>
          <a:p>
            <a:pPr algn="just">
              <a:defRPr/>
            </a:pPr>
            <a:r>
              <a:rPr lang="en-US" sz="1200" b="1">
                <a:solidFill>
                  <a:schemeClr val="bg1"/>
                </a:solidFill>
                <a:latin typeface="PT Serif"/>
              </a:rPr>
              <a:t>Hand calculation done in previous slide is available as QMS spread sheet. </a:t>
            </a:r>
            <a:endParaRPr/>
          </a:p>
          <a:p>
            <a:pPr algn="just">
              <a:defRPr/>
            </a:pPr>
            <a:r>
              <a:rPr lang="en-US" sz="1200" b="1">
                <a:solidFill>
                  <a:schemeClr val="bg1"/>
                </a:solidFill>
                <a:latin typeface="PT Serif"/>
              </a:rPr>
              <a:t>Refer sheet 2.0 calculation of PEC-EN-VSS-L-15634		</a:t>
            </a:r>
            <a:endParaRPr/>
          </a:p>
          <a:p>
            <a:pPr algn="just">
              <a:defRPr/>
            </a:pPr>
            <a:endParaRPr lang="en-US" sz="1200" b="1">
              <a:solidFill>
                <a:schemeClr val="bg1"/>
              </a:solidFill>
              <a:latin typeface="PT Serif"/>
            </a:endParaRPr>
          </a:p>
        </p:txBody>
      </p:sp>
      <p:pic>
        <p:nvPicPr>
          <p:cNvPr id="1111342815" name="Picture 30"/>
          <p:cNvPicPr>
            <a:picLocks noChangeAspect="1"/>
          </p:cNvPicPr>
          <p:nvPr/>
        </p:nvPicPr>
        <p:blipFill rotWithShape="1">
          <a:blip r:embed="rId3">
            <a:extLst>
              <a:ext uri="{96DAC541-7B7A-43D3-8B79-37D633B846F1}">
                <asvg:svgBlip xmlns:asvg="http://schemas.microsoft.com/office/drawing/2016/SVG/main" r:embed="rId4"/>
              </a:ext>
            </a:extLst>
          </a:blip>
          <a:stretch/>
        </p:blipFill>
        <p:spPr bwMode="auto">
          <a:xfrm>
            <a:off x="614486" y="836083"/>
            <a:ext cx="5268807" cy="5524499"/>
          </a:xfrm>
          <a:prstGeom prst="rect">
            <a:avLst/>
          </a:prstGeom>
          <a:solidFill>
            <a:schemeClr val="bg1"/>
          </a:solidFill>
        </p:spPr>
      </p:pic>
      <p:sp>
        <p:nvSpPr>
          <p:cNvPr id="935769421" name="TextBox 5"/>
          <p:cNvSpPr txBox="1"/>
          <p:nvPr/>
        </p:nvSpPr>
        <p:spPr bwMode="auto">
          <a:xfrm>
            <a:off x="8400255" y="913559"/>
            <a:ext cx="2816307" cy="225702"/>
          </a:xfrm>
          <a:prstGeom prst="rect">
            <a:avLst/>
          </a:prstGeom>
          <a:noFill/>
        </p:spPr>
        <p:txBody>
          <a:bodyPr wrap="square" rtlCol="0">
            <a:spAutoFit/>
          </a:bodyPr>
          <a:lstStyle/>
          <a:p>
            <a:pPr>
              <a:defRPr/>
            </a:pPr>
            <a:r>
              <a:rPr lang="en-US" sz="500"/>
              <a:t>For Spreadsheet Click below</a:t>
            </a:r>
            <a:endParaRPr/>
          </a:p>
        </p:txBody>
      </p:sp>
      <p:graphicFrame>
        <p:nvGraphicFramePr>
          <p:cNvPr id="621111294" name="Object 4"/>
          <p:cNvGraphicFramePr>
            <a:graphicFrameLocks xmlns:a="http://schemas.openxmlformats.org/drawingml/2006/main" noChangeAspect="1"/>
          </p:cNvGraphicFramePr>
          <p:nvPr/>
        </p:nvGraphicFramePr>
        <p:xfrm>
          <a:off x="8528270" y="1139262"/>
          <a:ext cx="1408154" cy="891097"/>
        </p:xfrm>
        <a:graphic>
          <a:graphicData uri="http://schemas.openxmlformats.org/presentationml/2006/ole">
            <p:oleObj name="oleObj" r:id="rId6" imgW="914400" imgH="771525" progId="Excel.Sheet.12">
              <p:embed/>
              <p:pic>
                <p:nvPicPr>
                  <p:cNvPr id="621111294" name="Object 4"/>
                  <p:cNvPicPr/>
                  <p:nvPr/>
                </p:nvPicPr>
                <p:blipFill rotWithShape="1">
                  <a:blip r:embed="rId5">
                    <a:extLst>
                      <a:ext uri="{96DAC541-7B7A-43D3-8B79-37D633B846F1}">
                        <asvg:svgBlip xmlns:asvg="http://schemas.microsoft.com/office/drawing/2016/SVG/main" r:embed="rId7"/>
                      </a:ext>
                    </a:extLst>
                  </a:blip>
                  <a:stretch/>
                </p:blipFill>
                <p:spPr bwMode="auto">
                  <a:xfrm>
                    <a:off x="8528270" y="1139262"/>
                    <a:ext cx="1408154" cy="891097"/>
                  </a:xfrm>
                  <a:prstGeom prst="rect">
                    <a:avLst/>
                  </a:prstGeom>
                </p:spPr>
              </p:pic>
            </p:oleObj>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chemeClr val="bg1"/>
        </a:solidFill>
      </p:bgPr>
    </p:bg>
    <p:spTree>
      <p:nvGrpSpPr>
        <p:cNvPr id="1" name=""/>
        <p:cNvGrpSpPr/>
        <p:nvPr/>
      </p:nvGrpSpPr>
      <p:grpSpPr bwMode="auto">
        <a:xfrm>
          <a:off x="0" y="0"/>
          <a:ext cx="0" cy="0"/>
          <a:chOff x="0" y="0"/>
          <a:chExt cx="0" cy="0"/>
        </a:xfrm>
      </p:grpSpPr>
      <p:sp>
        <p:nvSpPr>
          <p:cNvPr id="1945216795" name="Text Placeholder 1"/>
          <p:cNvSpPr>
            <a:spLocks noGrp="1"/>
          </p:cNvSpPr>
          <p:nvPr>
            <p:ph type="body" sz="quarter" idx="10"/>
          </p:nvPr>
        </p:nvSpPr>
        <p:spPr bwMode="auto">
          <a:xfrm>
            <a:off x="335361" y="260649"/>
            <a:ext cx="11521274" cy="384042"/>
          </a:xfrm>
        </p:spPr>
        <p:txBody>
          <a:bodyPr>
            <a:normAutofit/>
          </a:bodyPr>
          <a:lstStyle/>
          <a:p>
            <a:pPr>
              <a:defRPr/>
            </a:pPr>
            <a:r>
              <a:rPr lang="en-US" sz="1800"/>
              <a:t>BY USING Guided cantilever simplified sheet</a:t>
            </a:r>
            <a:endParaRPr/>
          </a:p>
        </p:txBody>
      </p:sp>
      <p:pic>
        <p:nvPicPr>
          <p:cNvPr id="665679967" name="Picture 3"/>
          <p:cNvPicPr>
            <a:picLocks noChangeAspect="1"/>
          </p:cNvPicPr>
          <p:nvPr/>
        </p:nvPicPr>
        <p:blipFill rotWithShape="1">
          <a:blip r:embed="rId3">
            <a:extLst>
              <a:ext uri="{96DAC541-7B7A-43D3-8B79-37D633B846F1}">
                <asvg:svgBlip xmlns:asvg="http://schemas.microsoft.com/office/drawing/2016/SVG/main" r:embed="rId4"/>
              </a:ext>
            </a:extLst>
          </a:blip>
          <a:stretch/>
        </p:blipFill>
        <p:spPr bwMode="auto">
          <a:xfrm>
            <a:off x="335361" y="2840883"/>
            <a:ext cx="9680398" cy="3372423"/>
          </a:xfrm>
          <a:prstGeom prst="rect">
            <a:avLst/>
          </a:prstGeom>
          <a:solidFill>
            <a:schemeClr val="bg1"/>
          </a:solidFill>
        </p:spPr>
      </p:pic>
      <p:sp>
        <p:nvSpPr>
          <p:cNvPr id="277908220" name="TextBox 4"/>
          <p:cNvSpPr txBox="1"/>
          <p:nvPr/>
        </p:nvSpPr>
        <p:spPr bwMode="auto">
          <a:xfrm>
            <a:off x="220289" y="644691"/>
            <a:ext cx="11751414" cy="1846659"/>
          </a:xfrm>
          <a:prstGeom prst="rect">
            <a:avLst/>
          </a:prstGeom>
          <a:noFill/>
        </p:spPr>
        <p:txBody>
          <a:bodyPr wrap="square">
            <a:spAutoFit/>
          </a:bodyPr>
          <a:lstStyle/>
          <a:p>
            <a:pPr algn="just">
              <a:defRPr/>
            </a:pPr>
            <a:r>
              <a:rPr lang="en-US" sz="1200">
                <a:solidFill>
                  <a:srgbClr val="000000"/>
                </a:solidFill>
                <a:latin typeface="Arial"/>
                <a:cs typeface="Arial"/>
              </a:rPr>
              <a:t>Step-By-Step Procedure:</a:t>
            </a:r>
            <a:endParaRPr/>
          </a:p>
          <a:p>
            <a:pPr marL="171450" indent="-171450" algn="just">
              <a:buFont typeface="Arial"/>
              <a:buChar char="•"/>
              <a:defRPr/>
            </a:pPr>
            <a:r>
              <a:rPr lang="en-US" sz="1200">
                <a:solidFill>
                  <a:srgbClr val="000000"/>
                </a:solidFill>
                <a:latin typeface="Arial"/>
                <a:cs typeface="Arial"/>
              </a:rPr>
              <a:t>Enter data in Yellow cells. ( Pipe size, Material and Temperature )</a:t>
            </a:r>
            <a:endParaRPr/>
          </a:p>
          <a:p>
            <a:pPr marL="171450" indent="-171450" algn="just">
              <a:buFont typeface="Arial"/>
              <a:buChar char="•"/>
              <a:defRPr/>
            </a:pPr>
            <a:r>
              <a:rPr lang="en-US" sz="1200">
                <a:solidFill>
                  <a:srgbClr val="000000"/>
                </a:solidFill>
                <a:latin typeface="Arial"/>
                <a:cs typeface="Arial"/>
              </a:rPr>
              <a:t>The Leg matrix gets updated and shows Pass/ Fail against each leg combination.</a:t>
            </a:r>
            <a:endParaRPr/>
          </a:p>
          <a:p>
            <a:pPr marL="171450" indent="-171450" algn="just">
              <a:buFont typeface="Arial"/>
              <a:buChar char="•"/>
              <a:defRPr/>
            </a:pPr>
            <a:r>
              <a:rPr lang="en-US" sz="1200">
                <a:solidFill>
                  <a:srgbClr val="000000"/>
                </a:solidFill>
                <a:latin typeface="Arial"/>
                <a:cs typeface="Arial"/>
              </a:rPr>
              <a:t>The diagonal rows in the matrix are equal legs</a:t>
            </a:r>
            <a:endParaRPr/>
          </a:p>
          <a:p>
            <a:pPr marL="171450" indent="-171450" algn="just">
              <a:buFont typeface="Arial"/>
              <a:buChar char="•"/>
              <a:defRPr/>
            </a:pPr>
            <a:r>
              <a:rPr lang="en-US" sz="1200">
                <a:solidFill>
                  <a:srgbClr val="000000"/>
                </a:solidFill>
                <a:latin typeface="Arial"/>
                <a:cs typeface="Arial"/>
              </a:rPr>
              <a:t>To check an unequal leg is suitable, locate it horizontally and identify the green   acceptable second leg band</a:t>
            </a:r>
            <a:endParaRPr/>
          </a:p>
          <a:p>
            <a:pPr algn="just">
              <a:defRPr/>
            </a:pPr>
            <a:r>
              <a:rPr lang="en-US" sz="1200">
                <a:solidFill>
                  <a:srgbClr val="000000"/>
                </a:solidFill>
                <a:latin typeface="Arial"/>
                <a:cs typeface="Arial"/>
              </a:rPr>
              <a:t>This sheet helps to you optimize and save time.</a:t>
            </a:r>
            <a:endParaRPr/>
          </a:p>
        </p:txBody>
      </p:sp>
      <p:sp>
        <p:nvSpPr>
          <p:cNvPr id="1456241580" name="TextBox 5"/>
          <p:cNvSpPr txBox="1"/>
          <p:nvPr/>
        </p:nvSpPr>
        <p:spPr bwMode="auto">
          <a:xfrm>
            <a:off x="10181907" y="2728031"/>
            <a:ext cx="1789797" cy="225702"/>
          </a:xfrm>
          <a:prstGeom prst="rect">
            <a:avLst/>
          </a:prstGeom>
          <a:noFill/>
        </p:spPr>
        <p:txBody>
          <a:bodyPr wrap="square" rtlCol="0">
            <a:spAutoFit/>
          </a:bodyPr>
          <a:lstStyle/>
          <a:p>
            <a:pPr>
              <a:defRPr/>
            </a:pPr>
            <a:r>
              <a:rPr lang="en-US" sz="500"/>
              <a:t>For Spreadsheet Click below</a:t>
            </a:r>
            <a:endParaRPr/>
          </a:p>
        </p:txBody>
      </p:sp>
      <p:graphicFrame>
        <p:nvGraphicFramePr>
          <p:cNvPr id="641565543" name="Object 6"/>
          <p:cNvGraphicFramePr>
            <a:graphicFrameLocks xmlns:a="http://schemas.openxmlformats.org/drawingml/2006/main" noChangeAspect="1"/>
          </p:cNvGraphicFramePr>
          <p:nvPr/>
        </p:nvGraphicFramePr>
        <p:xfrm>
          <a:off x="10183219" y="3083609"/>
          <a:ext cx="1625599" cy="1028699"/>
        </p:xfrm>
        <a:graphic>
          <a:graphicData uri="http://schemas.openxmlformats.org/presentationml/2006/ole">
            <p:oleObj name="oleObj" r:id="rId6" imgW="914400" imgH="771525" progId="Excel.Sheet.12">
              <p:embed/>
              <p:pic>
                <p:nvPicPr>
                  <p:cNvPr id="641565543" name="Object 6"/>
                  <p:cNvPicPr/>
                  <p:nvPr/>
                </p:nvPicPr>
                <p:blipFill rotWithShape="1">
                  <a:blip r:embed="rId5">
                    <a:extLst>
                      <a:ext uri="{96DAC541-7B7A-43D3-8B79-37D633B846F1}">
                        <asvg:svgBlip xmlns:asvg="http://schemas.microsoft.com/office/drawing/2016/SVG/main" r:embed="rId7"/>
                      </a:ext>
                    </a:extLst>
                  </a:blip>
                  <a:stretch/>
                </p:blipFill>
                <p:spPr bwMode="auto">
                  <a:xfrm>
                    <a:off x="10183219" y="3083609"/>
                    <a:ext cx="1625599" cy="1028699"/>
                  </a:xfrm>
                  <a:prstGeom prst="rect">
                    <a:avLst/>
                  </a:prstGeom>
                </p:spPr>
              </p:pic>
            </p:oleObj>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54809650" name="Text Placeholder 4"/>
          <p:cNvSpPr>
            <a:spLocks noGrp="1"/>
          </p:cNvSpPr>
          <p:nvPr>
            <p:ph type="body" sz="quarter" idx="10"/>
          </p:nvPr>
        </p:nvSpPr>
        <p:spPr bwMode="auto">
          <a:xfrm>
            <a:off x="624157" y="164635"/>
            <a:ext cx="5815584" cy="430317"/>
          </a:xfrm>
        </p:spPr>
        <p:txBody>
          <a:bodyPr>
            <a:noAutofit/>
          </a:bodyPr>
          <a:lstStyle/>
          <a:p>
            <a:pPr marL="342900" indent="-342900">
              <a:buFont typeface="Wingdings"/>
              <a:buChar char="Ø"/>
              <a:defRPr/>
            </a:pPr>
            <a:r>
              <a:rPr lang="en-US" sz="2000"/>
              <a:t>HAND CALCULATIONS</a:t>
            </a:r>
            <a:endParaRPr/>
          </a:p>
          <a:p>
            <a:pPr marL="342900" indent="-342900">
              <a:buFont typeface="Wingdings"/>
              <a:buChar char="§"/>
              <a:defRPr/>
            </a:pPr>
            <a:r>
              <a:rPr lang="en-US" sz="2000"/>
              <a:t>NOMOGRAPHS</a:t>
            </a:r>
            <a:endParaRPr/>
          </a:p>
          <a:p>
            <a:pPr marL="342900" indent="-342900">
              <a:buFont typeface="Wingdings"/>
              <a:buChar char="Ø"/>
              <a:defRPr/>
            </a:pPr>
            <a:endParaRPr lang="en-US" sz="2000"/>
          </a:p>
        </p:txBody>
      </p:sp>
      <p:sp>
        <p:nvSpPr>
          <p:cNvPr id="421179620" name="TextBox 3"/>
          <p:cNvSpPr txBox="1"/>
          <p:nvPr/>
        </p:nvSpPr>
        <p:spPr bwMode="auto">
          <a:xfrm>
            <a:off x="547400" y="932722"/>
            <a:ext cx="11594350" cy="984885"/>
          </a:xfrm>
          <a:prstGeom prst="rect">
            <a:avLst/>
          </a:prstGeom>
          <a:noFill/>
        </p:spPr>
        <p:txBody>
          <a:bodyPr wrap="square">
            <a:spAutoFit/>
          </a:bodyPr>
          <a:lstStyle/>
          <a:p>
            <a:pPr algn="just">
              <a:defRPr/>
            </a:pPr>
            <a:r>
              <a:rPr lang="en-US" sz="1400">
                <a:latin typeface="PT Serif"/>
              </a:rPr>
              <a:t>A nomograph is a two-dimensional diagram designed to allow the approximate graphical computation of a mathematical function. Below nomograph is used to calculate length of perpendicular leg required to compensate/ absorb expansion.</a:t>
            </a:r>
            <a:endParaRPr/>
          </a:p>
        </p:txBody>
      </p:sp>
      <p:pic>
        <p:nvPicPr>
          <p:cNvPr id="1985665366" name="Picture 7"/>
          <p:cNvPicPr>
            <a:picLocks noChangeAspect="1"/>
          </p:cNvPicPr>
          <p:nvPr/>
        </p:nvPicPr>
        <p:blipFill rotWithShape="1">
          <a:blip r:embed="rId3"/>
          <a:stretch/>
        </p:blipFill>
        <p:spPr bwMode="auto">
          <a:xfrm>
            <a:off x="632465" y="1917607"/>
            <a:ext cx="5577681" cy="4849461"/>
          </a:xfrm>
          <a:prstGeom prst="rect">
            <a:avLst/>
          </a:prstGeom>
        </p:spPr>
      </p:pic>
      <p:sp>
        <p:nvSpPr>
          <p:cNvPr id="388925322" name="TextBox 10"/>
          <p:cNvSpPr txBox="1"/>
          <p:nvPr/>
        </p:nvSpPr>
        <p:spPr bwMode="auto">
          <a:xfrm>
            <a:off x="6253832" y="1917607"/>
            <a:ext cx="5804627" cy="2995691"/>
          </a:xfrm>
          <a:prstGeom prst="rect">
            <a:avLst/>
          </a:prstGeom>
          <a:noFill/>
        </p:spPr>
        <p:txBody>
          <a:bodyPr wrap="square">
            <a:spAutoFit/>
          </a:bodyPr>
          <a:lstStyle/>
          <a:p>
            <a:pPr algn="just">
              <a:defRPr/>
            </a:pPr>
            <a:r>
              <a:rPr lang="en-US" sz="1400">
                <a:latin typeface="PT Serif"/>
              </a:rPr>
              <a:t>Scale-1 </a:t>
            </a:r>
            <a:r>
              <a:rPr lang="en-US" sz="1400">
                <a:latin typeface="PT Serif"/>
              </a:rPr>
              <a:t> Design Temp.</a:t>
            </a:r>
            <a:endParaRPr/>
          </a:p>
          <a:p>
            <a:pPr algn="just">
              <a:defRPr/>
            </a:pPr>
            <a:r>
              <a:rPr lang="en-US" sz="1400">
                <a:latin typeface="PT Serif"/>
              </a:rPr>
              <a:t>Scale-2 </a:t>
            </a:r>
            <a:r>
              <a:rPr lang="en-US" sz="1400">
                <a:latin typeface="PT Serif"/>
              </a:rPr>
              <a:t> Length of perpendicular  </a:t>
            </a:r>
            <a:endParaRPr/>
          </a:p>
          <a:p>
            <a:pPr algn="just">
              <a:defRPr/>
            </a:pPr>
            <a:r>
              <a:rPr lang="en-US" sz="1400">
                <a:latin typeface="PT Serif"/>
              </a:rPr>
              <a:t>                  leg required to  compensate  </a:t>
            </a:r>
            <a:endParaRPr/>
          </a:p>
          <a:p>
            <a:pPr algn="just">
              <a:defRPr/>
            </a:pPr>
            <a:r>
              <a:rPr lang="en-US" sz="1400">
                <a:latin typeface="PT Serif"/>
              </a:rPr>
              <a:t>                  expansion of L1 Pipe leg</a:t>
            </a:r>
            <a:endParaRPr/>
          </a:p>
          <a:p>
            <a:pPr algn="just">
              <a:defRPr/>
            </a:pPr>
            <a:r>
              <a:rPr lang="en-US" sz="1400">
                <a:latin typeface="PT Serif"/>
              </a:rPr>
              <a:t>Scale-3 </a:t>
            </a:r>
            <a:r>
              <a:rPr lang="en-US" sz="1400">
                <a:latin typeface="PT Serif"/>
              </a:rPr>
              <a:t> Pipe Size</a:t>
            </a:r>
            <a:endParaRPr/>
          </a:p>
          <a:p>
            <a:pPr algn="just">
              <a:defRPr/>
            </a:pPr>
            <a:r>
              <a:rPr lang="en-US" sz="1400">
                <a:latin typeface="PT Serif"/>
              </a:rPr>
              <a:t>Scale-4 </a:t>
            </a:r>
            <a:r>
              <a:rPr lang="en-US" sz="1400">
                <a:latin typeface="PT Serif"/>
              </a:rPr>
              <a:t> Length of L1 Pipe leg</a:t>
            </a:r>
            <a:endParaRPr/>
          </a:p>
          <a:p>
            <a:pPr algn="just">
              <a:defRPr/>
            </a:pPr>
            <a:r>
              <a:rPr lang="en-US" sz="1400">
                <a:latin typeface="PT Serif"/>
              </a:rPr>
              <a:t>Scale-5 </a:t>
            </a:r>
            <a:r>
              <a:rPr lang="en-US" sz="1400">
                <a:latin typeface="PT Serif"/>
              </a:rPr>
              <a:t> Thermal Expansion</a:t>
            </a:r>
            <a:endParaRPr/>
          </a:p>
          <a:p>
            <a:pPr algn="just">
              <a:defRPr/>
            </a:pPr>
            <a:endParaRPr lang="en-US" sz="1400">
              <a:latin typeface="PT Serif"/>
            </a:endParaRPr>
          </a:p>
          <a:p>
            <a:pPr algn="just">
              <a:defRPr/>
            </a:pPr>
            <a:endParaRPr lang="en-US" sz="1400">
              <a:latin typeface="PT Serif"/>
            </a:endParaRPr>
          </a:p>
          <a:p>
            <a:pPr algn="just">
              <a:defRPr/>
            </a:pPr>
            <a:endParaRPr lang="en-US" sz="1400">
              <a:latin typeface="PT Serif"/>
            </a:endParaRPr>
          </a:p>
        </p:txBody>
      </p:sp>
      <p:pic>
        <p:nvPicPr>
          <p:cNvPr id="2001242131" name="Picture 12"/>
          <p:cNvPicPr>
            <a:picLocks noChangeAspect="1"/>
          </p:cNvPicPr>
          <p:nvPr/>
        </p:nvPicPr>
        <p:blipFill rotWithShape="1">
          <a:blip r:embed="rId4">
            <a:extLst>
              <a:ext uri="{96DAC541-7B7A-43D3-8B79-37D633B846F1}">
                <asvg:svgBlip xmlns:asvg="http://schemas.microsoft.com/office/drawing/2016/SVG/main" r:embed="rId5"/>
              </a:ext>
            </a:extLst>
          </a:blip>
          <a:stretch/>
        </p:blipFill>
        <p:spPr bwMode="auto">
          <a:xfrm>
            <a:off x="6608056" y="4101074"/>
            <a:ext cx="2269539" cy="195105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ONLYOFFICE/9.1.0.167</Application>
  <PresentationFormat>On-screen Show (4:3)</PresentationFormat>
  <Paragraphs>0</Paragraphs>
  <Slides>12</Slides>
  <Notes>12</Notes>
  <HiddenSlides>0</HiddenSlides>
  <MMClips>2</MMClips>
  <ScaleCrop>0</ScaleCrop>
  <HeadingPairs>
    <vt:vector size="4" baseType="variant">
      <vt:variant>
        <vt:lpstr>Theme</vt:lpstr>
      </vt:variant>
      <vt:variant>
        <vt:i4>1</vt:i4>
      </vt:variant>
      <vt:variant>
        <vt:lpstr>Slide Titles</vt:lpstr>
      </vt:variant>
      <vt:variant>
        <vt:i4>12</vt:i4>
      </vt:variant>
    </vt:vector>
  </HeadingPairs>
  <TitlesOfParts>
    <vt:vector size="13"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6</cp:revision>
  <dcterms:modified xsi:type="dcterms:W3CDTF">2026-02-23T02:22:04Z</dcterms:modified>
</cp:coreProperties>
</file>